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2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88552" y="0"/>
            <a:ext cx="54864" cy="6858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D75945"/>
                </a:solidFill>
                <a:latin typeface="Calibri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VoltMarket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6120"/>
            <a:ext cx="50292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75945"/>
                </a:solidFill>
                <a:latin typeface="Calibri"/>
              </a:rPr>
              <a:t>НИШЕВЫЙ МАРКЕТПЛЕЙС ЭЛЕКТРОТОВАРОВ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CCCCC"/>
                </a:solidFill>
                <a:latin typeface="Calibri"/>
              </a:rPr>
              <a:t>Инвестиционное предложение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9999"/>
                </a:solidFill>
                <a:latin typeface="Calibri"/>
              </a:rPr>
              <a:t>volt-market.com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AA"/>
                </a:solidFill>
                <a:latin typeface="Calibri"/>
              </a:rPr>
              <a:t>«Вместе создаём светлое будущее»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77777"/>
                </a:solidFill>
                <a:latin typeface="Calibri"/>
              </a:rPr>
              <a:t>КОНФИДЕНЦИАЛЬНО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Содержание презентации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859536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02920" cy="859536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Рыночная возможность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92808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Рынок электротоваров РФ, тренды, потенциал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5669280" cy="859536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417320"/>
            <a:ext cx="502920" cy="859536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6002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50876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Проблема и решение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892808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Боли клиентов и продавцов, наш ответ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50008"/>
            <a:ext cx="5669280" cy="859536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350008"/>
            <a:ext cx="502920" cy="859536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53288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441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Продукт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825496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Платформа, AI-функции, 5M+ SKU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350008"/>
            <a:ext cx="5669280" cy="859536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350008"/>
            <a:ext cx="502920" cy="859536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53288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441448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Для покупателей и продавцов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825496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B2B / B2C, электрики, монтажные организации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282696"/>
            <a:ext cx="5669280" cy="859536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282696"/>
            <a:ext cx="502920" cy="859536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465576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374136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Бизнес-модель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758184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Монетизация: комиссия, подписка, реклама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282696"/>
            <a:ext cx="5669280" cy="859536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282696"/>
            <a:ext cx="502920" cy="859536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465576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374136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Конкурентные преимущества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758184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Vs Wildberries, OZON, нишевые игроки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215384"/>
            <a:ext cx="5669280" cy="859536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215384"/>
            <a:ext cx="502920" cy="859536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39826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306824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Мировые практики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690872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Zoro, Würth, Grainger — лучший опыт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215384"/>
            <a:ext cx="5669280" cy="859536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4215384"/>
            <a:ext cx="502920" cy="859536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439826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306824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Дорожная карта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4690872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MVP → Масштаб → Платформа (2026–2028)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148072"/>
            <a:ext cx="5669280" cy="859536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5148072"/>
            <a:ext cx="502920" cy="859536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3309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" y="5239512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Финансовая модель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562356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GMV, выручка, EBITDA, юнит-экономика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5148072"/>
            <a:ext cx="5669280" cy="859536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26480" y="5148072"/>
            <a:ext cx="502920" cy="859536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5330952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239512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Команда и инвестиции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0840" y="5623560"/>
            <a:ext cx="4983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Роли, запрос, использование средств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Рыночная возможность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Электротовары — один из крупнейших сегментов строительного рынка РФ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651760" cy="1417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1,8 трлн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Объём рынка
электротоваров РФ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508760"/>
            <a:ext cx="2651760" cy="141732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6184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28%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359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Ежегодный рост
сегмента онлайн-продаж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508760"/>
            <a:ext cx="2651760" cy="141732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6184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&lt; 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2359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Доля нишевых
маркетплейсов сейчас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89136" y="1508760"/>
            <a:ext cx="2651760" cy="141732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161848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5M+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23591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SKU в категории
электрика в России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54680"/>
            <a:ext cx="11338560" cy="1078992"/>
          </a:xfrm>
          <a:prstGeom prst="rect">
            <a:avLst/>
          </a:prstGeom>
          <a:solidFill>
            <a:srgbClr val="333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154680"/>
            <a:ext cx="64008" cy="107899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24612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📈  Тренд: нишевые маркетплейсы растут в 2–3× быстрее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11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По данным Data Insight и Infoline, специализированные площадки показывают CAGR 45–60% против 25–30% у универсальных маркетплейсов (Wildberries, Ozon).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25112"/>
            <a:ext cx="11338560" cy="1078992"/>
          </a:xfrm>
          <a:prstGeom prst="rect">
            <a:avLst/>
          </a:prstGeom>
          <a:solidFill>
            <a:srgbClr val="333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325112"/>
            <a:ext cx="64008" cy="107899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165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🏗️  B2B-сегмент ещё не оцифрован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8231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Более 80% закупок для строительно-монтажных организаций происходит офлайн или через разрозненные прайс-листы поставщиков. Цифровизация тендеров и смет — голубой океан.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495544"/>
            <a:ext cx="11338560" cy="1078992"/>
          </a:xfrm>
          <a:prstGeom prst="rect">
            <a:avLst/>
          </a:prstGeom>
          <a:solidFill>
            <a:srgbClr val="333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495544"/>
            <a:ext cx="64008" cy="107899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586984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⚡  VoltMarket — готовый плацдарм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52744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Действующий интернет-магазин volt-market.com, 6+ лет опыта, клиентская база Оренбурга и Поволжья — готовая основа для масштабирования в нишевый маркетплейс.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Рынок фрагментирован — покупатели и поставщики страдают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75945"/>
                </a:solidFill>
                <a:latin typeface="Calibri"/>
              </a:rPr>
              <a:t>БОЛИ ПОКУПАТЕЛЕЙ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75945"/>
                </a:solidFill>
                <a:latin typeface="Calibri"/>
              </a:rPr>
              <a:t>БОЛИ ПРОДАВЦОВ / ПОСТАВЩИКОВ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25880"/>
            <a:ext cx="45720" cy="51206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65960"/>
            <a:ext cx="5486400" cy="658368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Нет единой площадки «всей электрики» в одном месте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88336"/>
            <a:ext cx="5486400" cy="658368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3405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Подбор оборудования по проекту — вручную, часами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10712"/>
            <a:ext cx="5486400" cy="658368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5643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Сложно сравнить цены разных поставщиков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33088"/>
            <a:ext cx="5486400" cy="658368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7880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Смета и спецификация — отдельный болезненный процесс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55464"/>
            <a:ext cx="5486400" cy="658368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0118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Нет B2B-инструментов: отсрочки, счета, ЭДО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77840"/>
            <a:ext cx="5486400" cy="658368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6235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Доставка на объект не гарантирована по срокам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965960"/>
            <a:ext cx="5577840" cy="658368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01168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Высокие комиссии на Wildberries / Ozon (20–35%)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688336"/>
            <a:ext cx="5577840" cy="658368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734056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Целевая аудитория «не та» — не профессионалы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410712"/>
            <a:ext cx="5577840" cy="658368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45643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Трудоёмкая загрузка каталога, нет интеграции с 1С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133088"/>
            <a:ext cx="5577840" cy="658368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17880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Нет инструментов для работы с проектами и сметами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855464"/>
            <a:ext cx="5577840" cy="658368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90118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Непрозрачные выплаты и сложная отчётность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577840"/>
            <a:ext cx="5577840" cy="658368"/>
          </a:xfrm>
          <a:prstGeom prst="rect">
            <a:avLst/>
          </a:prstGeom>
          <a:solidFill>
            <a:srgbClr val="3A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6235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❌  Нет специализированной рекламы для ЦА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Наше 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VoltMarket — профессиональный нишевый маркетплейс электротоваров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417320"/>
            <a:ext cx="9418320" cy="9601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50876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Единая платформа: подбор → смета → проект → заказ → доставка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60320"/>
            <a:ext cx="3611880" cy="16642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560320"/>
            <a:ext cx="64008" cy="16642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6700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⚡  AI-смета
из файла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273552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Загрузите PDF, Excel, DWG — система автоматически распознаёт позиции и формирует спецификацию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2560320"/>
            <a:ext cx="3611880" cy="16642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2560320"/>
            <a:ext cx="64008" cy="16642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6700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🔍  Умный
подбор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273552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Фильтрация по техническим параметрам, аналогам, совместимости оборудования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9016" y="2560320"/>
            <a:ext cx="3611880" cy="16642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9016" y="2560320"/>
            <a:ext cx="64008" cy="16642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6700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📦  5M+ SKU
электрики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273552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Полный охват: силовые кабели, щиты, светотехника, автоматика, КМЛ, инструмент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407408"/>
            <a:ext cx="3611880" cy="16642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407408"/>
            <a:ext cx="64008" cy="16642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45171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🏗️  B2B
инструменты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5120640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Счета, ЭДО, отсрочка платежа, брендированные сметы, история проектов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4407408"/>
            <a:ext cx="3611880" cy="16642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4407408"/>
            <a:ext cx="64008" cy="16642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5171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🛒  Прозрачная
платформа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120640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Комиссия от 8%, понятная выплата раз в неделю, личный кабинет продавца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9016" y="4407408"/>
            <a:ext cx="3611880" cy="166420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29016" y="4407408"/>
            <a:ext cx="64008" cy="16642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45171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🚚  Быстрая
доставка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5120640"/>
            <a:ext cx="33832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FBS / DBS, курьер, самовывоз, доставка на объект — интеграция со СДЭК, ПЭК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Ключевая функция: AI-смета и подбор из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Клиент загружает файл — платформа строит спецификацию автоматически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2057400" cy="2194560"/>
          </a:xfrm>
          <a:prstGeom prst="rect">
            <a:avLst/>
          </a:prstGeom>
          <a:solidFill>
            <a:srgbClr val="3A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20574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75945"/>
                </a:solidFill>
                <a:latin typeface="Calibri"/>
              </a:rPr>
              <a:t>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Загрузка
файла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0360"/>
            <a:ext cx="1874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PDF, Excel, Word,
DWG, JPEG, текст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331720"/>
            <a:ext cx="11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75945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1463040"/>
            <a:ext cx="2057400" cy="2194560"/>
          </a:xfrm>
          <a:prstGeom prst="rect">
            <a:avLst/>
          </a:prstGeom>
          <a:solidFill>
            <a:srgbClr val="3A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33472" y="1463040"/>
            <a:ext cx="20574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60020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75945"/>
                </a:solidFill>
                <a:latin typeface="Calibr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286000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AI-распознавание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2880360"/>
            <a:ext cx="1874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OCR + NLP разбирает
позиции и параметры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331720"/>
            <a:ext cx="11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75945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5464" y="1463040"/>
            <a:ext cx="2057400" cy="2194560"/>
          </a:xfrm>
          <a:prstGeom prst="rect">
            <a:avLst/>
          </a:prstGeom>
          <a:solidFill>
            <a:srgbClr val="3A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55464" y="1463040"/>
            <a:ext cx="20574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55464" y="160020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75945"/>
                </a:solidFill>
                <a:latin typeface="Calibri"/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6904" y="2286000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Подбор
и замены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6904" y="2880360"/>
            <a:ext cx="1874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Сопоставление с
каталогом 5M+ SKU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2331720"/>
            <a:ext cx="11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75945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77456" y="1463040"/>
            <a:ext cx="2057400" cy="2194560"/>
          </a:xfrm>
          <a:prstGeom prst="rect">
            <a:avLst/>
          </a:prstGeom>
          <a:solidFill>
            <a:srgbClr val="3A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77456" y="1463040"/>
            <a:ext cx="20574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456" y="160020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75945"/>
                </a:solidFill>
                <a:latin typeface="Calibri"/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8896" y="2286000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Готовая
смета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8896" y="2880360"/>
            <a:ext cx="1874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Спецификация с ценами,
аналогами, наличием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2331720"/>
            <a:ext cx="118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75945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99448" y="1463040"/>
            <a:ext cx="2057400" cy="2194560"/>
          </a:xfrm>
          <a:prstGeom prst="rect">
            <a:avLst/>
          </a:prstGeom>
          <a:solidFill>
            <a:srgbClr val="3A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99448" y="1463040"/>
            <a:ext cx="20574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9448" y="160020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D75945"/>
                </a:solidFill>
                <a:latin typeface="Calibri"/>
              </a:rPr>
              <a:t>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0888" y="2286000"/>
            <a:ext cx="1874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Заказ
в 1 клик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2880360"/>
            <a:ext cx="1874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  <a:latin typeface="Calibri"/>
              </a:rPr>
              <a:t>Весь список — в корзину,
счёт и ЭДО автоматически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886200"/>
            <a:ext cx="2743200" cy="1298448"/>
          </a:xfrm>
          <a:prstGeom prst="rect">
            <a:avLst/>
          </a:prstGeom>
          <a:solidFill>
            <a:srgbClr val="28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3886200"/>
            <a:ext cx="64008" cy="12984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977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⏱  Экономия времени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38912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Составление сметы вручную: 4–8 часов
С VoltMarket AI: 5–10 минут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92424" y="3886200"/>
            <a:ext cx="2743200" cy="1298448"/>
          </a:xfrm>
          <a:prstGeom prst="rect">
            <a:avLst/>
          </a:prstGeom>
          <a:solidFill>
            <a:srgbClr val="28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92424" y="3886200"/>
            <a:ext cx="64008" cy="12984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9584" y="3977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💰  Экономия денег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9584" y="438912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Автоматический поиск аналогов снижает
стоимость спецификации на 10–25%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73368" y="3886200"/>
            <a:ext cx="2743200" cy="1298448"/>
          </a:xfrm>
          <a:prstGeom prst="rect">
            <a:avLst/>
          </a:prstGeom>
          <a:solidFill>
            <a:srgbClr val="28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73368" y="3886200"/>
            <a:ext cx="64008" cy="12984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3977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📊  Точность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38912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OCR + нейросеть распознают таблицы,
технические маркировки, артикулы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54312" y="3886200"/>
            <a:ext cx="2743200" cy="1298448"/>
          </a:xfrm>
          <a:prstGeom prst="rect">
            <a:avLst/>
          </a:prstGeom>
          <a:solidFill>
            <a:srgbClr val="282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354312" y="3886200"/>
            <a:ext cx="64008" cy="12984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91472" y="3977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🔁  Повторные заказы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91472" y="438912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Сохранённые проекты — 1 клик
для повторного заказа или актуализации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Для покупателей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Три сегмента — один маркетплейс для всех задач с электрикой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5029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D75945"/>
                </a:solidFill>
                <a:latin typeface="Calibri"/>
              </a:rPr>
              <a:t>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677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Частные клиенты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724912"/>
            <a:ext cx="1463040" cy="329184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743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B2C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  <a:latin typeface="Calibri"/>
              </a:rPr>
              <a:t>ЗАДАЧИ: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0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Ремонт квартиры / дома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Подбор светильников и розеток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Небольшие объёмы, нужна доставка быстро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ПОЛУЧАЮТ: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3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Удобный каталог с фильтрами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Фото/видео монтажа в карточке товара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59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Доставка курьером за 1–2 дня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1371600"/>
            <a:ext cx="3657600" cy="5029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0248" y="1371600"/>
            <a:ext cx="36576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1508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D75945"/>
                </a:solidFill>
                <a:latin typeface="Calibri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22677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Электрики и мастера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67528" y="2724912"/>
            <a:ext cx="1463040" cy="329184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7528" y="2743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B2C+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3200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  <a:latin typeface="Calibri"/>
              </a:rPr>
              <a:t>ЗАДАЧИ: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520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Нужны точные аналоги по маркировке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39319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Расчёт кабеля по метражу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43434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Профессиональный инструмент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ПОЛУЧАЮТ: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512063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Подбор по техпараметрам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55321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AI-смета из схемы или файла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594359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Личный кабинет с историей заказов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74736" y="1371600"/>
            <a:ext cx="3657600" cy="5029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74736" y="1371600"/>
            <a:ext cx="36576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4736" y="1508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D75945"/>
                </a:solidFill>
                <a:latin typeface="Calibri"/>
              </a:rPr>
              <a:t>🏗️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1896" y="22677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СМО / Проектировщики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72016" y="2724912"/>
            <a:ext cx="1463040" cy="329184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72016" y="2743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B2B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6" y="3200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  <a:latin typeface="Calibri"/>
              </a:rPr>
              <a:t>ЗАДАЧИ: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6" y="35204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Крупные спецификации (1000+ позиций)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7616" y="39319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Нужны счета, ЭДО, отсрочка платежа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43434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  <a:latin typeface="Calibri"/>
              </a:rPr>
              <a:t>• Срочная доставка на несколько объектов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57616" y="4800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ПОЛУЧАЮТ: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7616" y="512063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Загрузка проекта → смета автоматом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7616" y="55321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Счета, ЭДО, рассрочка до 30 дней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7616" y="594359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Персональный менеджер, SLA-доставка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Для продавцов (селлеров)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Простой вход, целевая аудитория, прозрачная монетизация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75945"/>
                </a:solidFill>
                <a:latin typeface="Calibri"/>
              </a:rPr>
              <a:t>ПРЕИМУЩЕСТВА РАЗМЕЩЕНИЯ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5577840" cy="73152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64008" cy="7315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3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🎯  Целевая аудитория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5856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100% профессионалы и DIY-покупатели электрики — не «случайный» трафик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70047"/>
            <a:ext cx="5577840" cy="73152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70047"/>
            <a:ext cx="64008" cy="7315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1576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💻  Быстрый старт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54095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Загрузка каталога: вручную, Excel, XML, интеграция с 1С. Запуск за 1–3 дня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65575"/>
            <a:ext cx="5577840" cy="73152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465575"/>
            <a:ext cx="64008" cy="7315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11295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📊  Личный кабинет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49623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Аналитика продаж, отзывы, статус заказов, история выплат — всё в одном окне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61103"/>
            <a:ext cx="5577840" cy="73152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261103"/>
            <a:ext cx="64008" cy="7315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30682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💰  Прозрачная комиссия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45151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Take rate 8% — ниже среднего по рынку. Без скрытых списаний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56631"/>
            <a:ext cx="5577840" cy="73152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056631"/>
            <a:ext cx="64008" cy="7315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102351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📅  Выплаты еженедельно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406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Деньги поступают на р/с каждую неделю. ЭДО и УПД автоматически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852159"/>
            <a:ext cx="5577840" cy="73152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852159"/>
            <a:ext cx="64008" cy="7315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89787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📣  Рекламные инструменты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3620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Спонсируемые товары, баннеры, участие в акциях маркетплейса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1371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75945"/>
                </a:solidFill>
                <a:latin typeface="Calibri"/>
              </a:rPr>
              <a:t>СТРУКТУРА КОМИССИИ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874519"/>
            <a:ext cx="530352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199339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Базовая комиссия (Take Rate)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41280" y="1947671"/>
            <a:ext cx="1234440" cy="45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1965959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532887"/>
            <a:ext cx="530352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6517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Подписка продавца (мес.)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41280" y="2606039"/>
            <a:ext cx="1234440" cy="45720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41280" y="2624327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5 000 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191255"/>
            <a:ext cx="530352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31012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Комиссия эквайринга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0" y="3264407"/>
            <a:ext cx="1234440" cy="45720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3282695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849623"/>
            <a:ext cx="530352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96849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Субсидия доставки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41280" y="3922775"/>
            <a:ext cx="1234440" cy="45720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41280" y="3941063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от 0,5%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507991"/>
            <a:ext cx="5303520" cy="59436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462686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Платная реклама (опционально)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1280" y="4581143"/>
            <a:ext cx="1234440" cy="457200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41280" y="4599431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CPC/CPM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СРАВНЕНИЕ С КОНКУРЕНТАМИ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5623560"/>
            <a:ext cx="1234440" cy="685800"/>
          </a:xfrm>
          <a:prstGeom prst="rect">
            <a:avLst/>
          </a:prstGeom>
          <a:solidFill>
            <a:srgbClr val="454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56692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Wildberries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59710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15–25%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98664" y="5623560"/>
            <a:ext cx="1234440" cy="685800"/>
          </a:xfrm>
          <a:prstGeom prst="rect">
            <a:avLst/>
          </a:prstGeom>
          <a:solidFill>
            <a:srgbClr val="454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98664" y="56692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Ozon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98664" y="59710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18–30%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87968" y="5623560"/>
            <a:ext cx="1234440" cy="685800"/>
          </a:xfrm>
          <a:prstGeom prst="rect">
            <a:avLst/>
          </a:prstGeom>
          <a:solidFill>
            <a:srgbClr val="454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87968" y="56692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Яндекс.Маркет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87968" y="59710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10–20%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77272" y="5623560"/>
            <a:ext cx="1234440" cy="6858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77272" y="56692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VoltMarket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77272" y="597103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8%  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Бизнес-модель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Многоуровневая монетизация — устойчивая выручка от первого месяца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138988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02920" cy="138988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180136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4904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Комиссия с продаж (Take Rate)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508760"/>
            <a:ext cx="1463040" cy="3840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27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~73% выручки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9280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75945"/>
                </a:solidFill>
                <a:latin typeface="Calibri"/>
              </a:rPr>
              <a:t>8% от Net GMV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21992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Основной источник дохода. Взимается после завершения заказа. Конкурентоспособная ставка для привлечения качественных поставщиков.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5577840" cy="138988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417320"/>
            <a:ext cx="502920" cy="138988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8464" y="180136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49047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Подписка продавцов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0" y="1508760"/>
            <a:ext cx="1463040" cy="3840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1527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~8% выручки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89280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75945"/>
                </a:solidFill>
                <a:latin typeface="Calibri"/>
              </a:rPr>
              <a:t>5 000–6 500 ₽/мес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221992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Фиксированная плата за размещение витрины. Включает доступ к ЛК, базовую аналитику, ЭДО. Масштабируется с ростом числа селлеров.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53512"/>
            <a:ext cx="5303520" cy="138988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953512"/>
            <a:ext cx="502920" cy="138988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33375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02666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Рекламные инструменты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044952"/>
            <a:ext cx="1463040" cy="3840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0632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~11% выручки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429000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75945"/>
                </a:solidFill>
                <a:latin typeface="Calibri"/>
              </a:rPr>
              <a:t>CPC / баннеры / акции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3758184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Спонсируемые позиции в поиске, баннеры на главной, участие в распродажах. Выручка растёт пропорционально трафику площадки.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953512"/>
            <a:ext cx="5577840" cy="138988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0" y="2953512"/>
            <a:ext cx="502920" cy="138988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8464" y="33375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026664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Продакшн-услуги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0" y="3044952"/>
            <a:ext cx="1463040" cy="3840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30632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~8% выручки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42900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75945"/>
                </a:solidFill>
                <a:latin typeface="Calibri"/>
              </a:rPr>
              <a:t>Контент / интеграции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758184"/>
            <a:ext cx="4892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BBBB"/>
                </a:solidFill>
                <a:latin typeface="Calibri"/>
              </a:rPr>
              <a:t>Профессиональная съёмка и описания товаров, настройка интеграции 1С, помощь в составлении смет под заказ покупателя.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108192"/>
            <a:ext cx="11430000" cy="530352"/>
          </a:xfrm>
          <a:prstGeom prst="rect">
            <a:avLst/>
          </a:prstGeom>
          <a:solidFill>
            <a:srgbClr val="22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75945"/>
                </a:solidFill>
                <a:latin typeface="Calibri"/>
              </a:rPr>
              <a:t>К 2028 году совокупная выручка платформы превысит 34 млн ₽/год при GMV 409 млн ₽/год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Конкурентный анализ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VoltMarket занимает уникальную нишу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474720" cy="658368"/>
          </a:xfrm>
          <a:prstGeom prst="rect">
            <a:avLst/>
          </a:prstGeom>
          <a:solidFill>
            <a:srgbClr val="2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08760"/>
            <a:ext cx="3337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Критерий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463040"/>
            <a:ext cx="2377440" cy="658368"/>
          </a:xfrm>
          <a:prstGeom prst="rect">
            <a:avLst/>
          </a:prstGeom>
          <a:solidFill>
            <a:srgbClr val="2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150876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Wildberries
/ Ozon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2743200" cy="658368"/>
          </a:xfrm>
          <a:prstGeom prst="rect">
            <a:avLst/>
          </a:prstGeom>
          <a:solidFill>
            <a:srgbClr val="252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50876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Специализир.
интернет-магазин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463040"/>
            <a:ext cx="2834640" cy="65836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34272" y="150876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VoltMarket
Маркетплейс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21408"/>
            <a:ext cx="3474720" cy="530352"/>
          </a:xfrm>
          <a:prstGeom prst="rect">
            <a:avLst/>
          </a:prstGeom>
          <a:solidFill>
            <a:srgbClr val="353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212848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Нишевая аудитория (электрика)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121408"/>
            <a:ext cx="2377440" cy="530352"/>
          </a:xfrm>
          <a:prstGeom prst="rect">
            <a:avLst/>
          </a:prstGeom>
          <a:solidFill>
            <a:srgbClr val="353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2" y="2212848"/>
            <a:ext cx="2240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21408"/>
            <a:ext cx="2743200" cy="530352"/>
          </a:xfrm>
          <a:prstGeom prst="rect">
            <a:avLst/>
          </a:prstGeom>
          <a:solidFill>
            <a:srgbClr val="353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221284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121408"/>
            <a:ext cx="2834640" cy="530352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221284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51760"/>
            <a:ext cx="3474720" cy="53035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743200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AI-смета из файла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651760"/>
            <a:ext cx="2377440" cy="53035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13632" y="2743200"/>
            <a:ext cx="2240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2743200" cy="53035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2743200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651760"/>
            <a:ext cx="2834640" cy="530352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34272" y="2743200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82112"/>
            <a:ext cx="3474720" cy="530352"/>
          </a:xfrm>
          <a:prstGeom prst="rect">
            <a:avLst/>
          </a:prstGeom>
          <a:solidFill>
            <a:srgbClr val="353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27355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5M+ SKU электрики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3182112"/>
            <a:ext cx="2377440" cy="530352"/>
          </a:xfrm>
          <a:prstGeom prst="rect">
            <a:avLst/>
          </a:prstGeom>
          <a:solidFill>
            <a:srgbClr val="353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13632" y="3273552"/>
            <a:ext cx="2240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Частично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182112"/>
            <a:ext cx="2743200" cy="530352"/>
          </a:xfrm>
          <a:prstGeom prst="rect">
            <a:avLst/>
          </a:prstGeom>
          <a:solidFill>
            <a:srgbClr val="353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327355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Нет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3182112"/>
            <a:ext cx="2834640" cy="530352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34272" y="3273552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712464"/>
            <a:ext cx="3474720" cy="53035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3803904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B2B-инструменты (ЭДО, счета)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712464"/>
            <a:ext cx="2377440" cy="53035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3803904"/>
            <a:ext cx="2240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712464"/>
            <a:ext cx="2743200" cy="53035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1072" y="3803904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Ограничено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3712464"/>
            <a:ext cx="2834640" cy="530352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34272" y="3803904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242816"/>
            <a:ext cx="3474720" cy="530352"/>
          </a:xfrm>
          <a:prstGeom prst="rect">
            <a:avLst/>
          </a:prstGeom>
          <a:solidFill>
            <a:srgbClr val="353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4334256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Комиссия для продавцов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4242816"/>
            <a:ext cx="2377440" cy="530352"/>
          </a:xfrm>
          <a:prstGeom prst="rect">
            <a:avLst/>
          </a:prstGeom>
          <a:solidFill>
            <a:srgbClr val="353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13632" y="4334256"/>
            <a:ext cx="2240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15–35%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242816"/>
            <a:ext cx="2743200" cy="530352"/>
          </a:xfrm>
          <a:prstGeom prst="rect">
            <a:avLst/>
          </a:prstGeom>
          <a:solidFill>
            <a:srgbClr val="353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1072" y="4334256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4242816"/>
            <a:ext cx="2834640" cy="530352"/>
          </a:xfrm>
          <a:prstGeom prst="rect">
            <a:avLst/>
          </a:prstGeom>
          <a:solidFill>
            <a:srgbClr val="3D2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34272" y="4334256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8% 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773168"/>
            <a:ext cx="3474720" cy="53035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4864608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Интеграция с 1С / Excel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4773168"/>
            <a:ext cx="2377440" cy="53035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4864608"/>
            <a:ext cx="2240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4773168"/>
            <a:ext cx="2743200" cy="53035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1072" y="4864608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Редко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61120" y="4773168"/>
            <a:ext cx="2834640" cy="530352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34272" y="486460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5303520"/>
            <a:ext cx="3474720" cy="530352"/>
          </a:xfrm>
          <a:prstGeom prst="rect">
            <a:avLst/>
          </a:prstGeom>
          <a:solidFill>
            <a:srgbClr val="353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8912" y="5394960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Подбор по техническим параметрам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0" y="5303520"/>
            <a:ext cx="2377440" cy="530352"/>
          </a:xfrm>
          <a:prstGeom prst="rect">
            <a:avLst/>
          </a:prstGeom>
          <a:solidFill>
            <a:srgbClr val="353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13632" y="5394960"/>
            <a:ext cx="2240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Базовый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17920" y="5303520"/>
            <a:ext cx="2743200" cy="530352"/>
          </a:xfrm>
          <a:prstGeom prst="rect">
            <a:avLst/>
          </a:prstGeom>
          <a:solidFill>
            <a:srgbClr val="353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1072" y="5394960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Частично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0" y="5303520"/>
            <a:ext cx="2834640" cy="530352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34272" y="5394960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833872"/>
            <a:ext cx="3474720" cy="53035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8912" y="5925312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Доставка на объект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0" y="5833872"/>
            <a:ext cx="2377440" cy="53035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13632" y="5925312"/>
            <a:ext cx="2240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5833872"/>
            <a:ext cx="2743200" cy="53035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91072" y="5925312"/>
            <a:ext cx="2606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FFFFFF"/>
                </a:solidFill>
                <a:latin typeface="Calibri"/>
              </a:rPr>
              <a:t>Частично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61120" y="5833872"/>
            <a:ext cx="2834640" cy="530352"/>
          </a:xfrm>
          <a:prstGeom prst="rect">
            <a:avLst/>
          </a:prstGeom>
          <a:solidFill>
            <a:srgbClr val="1F3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34272" y="5925312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50FF50"/>
                </a:solidFill>
                <a:latin typeface="Calibri"/>
              </a:rPr>
              <a:t>✓✓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Мировые практики нишевых маркетплейсов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Успешные аналоги — подтверждение модели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11880" cy="221284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1188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Zoro (США)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38527"/>
            <a:ext cx="3383280" cy="274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476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Аналог — промышленные товары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28600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Нишевый маркетплейс Grainger: 10M+ SKU, фокус на B2B-покупателей. Оборот $500M+/год. Ключ успеха: глубокий каталог + быстрая доставка.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18211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→ Широта SKU и B2B-сервис = лояльность профессионалов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417320"/>
            <a:ext cx="3611880" cy="221284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417320"/>
            <a:ext cx="361188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Würth (Германия)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1938527"/>
            <a:ext cx="3383280" cy="274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19476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Аналог — крепёж и электроинструмент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28600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Нишевый дистрибьютор → онлайн-платформа. €20B+ оборот. Экосистема: приложение для мастеров, умный склад, кредит для B2B.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18211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→ Сервис и экосистема удерживают профи-клиентов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4" y="1417320"/>
            <a:ext cx="3611880" cy="221284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1584" y="1417320"/>
            <a:ext cx="361188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Cromwell (Великобритания)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8744" y="1938527"/>
            <a:ext cx="3383280" cy="274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19476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Аналог — промышленные расходники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286000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B2B-маркетплейс для закупщиков: каталог 650K+ SKU, персональные цены, интеграция с ERP клиентов. Занял 40% рынка UK MRO.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318211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→ Интеграция с процессами клиента = барьер для замены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31336"/>
            <a:ext cx="3611880" cy="221284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831336"/>
            <a:ext cx="361188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94106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Elelektro / Conrad (Европа)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52543"/>
            <a:ext cx="3383280" cy="274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3616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Нишевые электронные маркетплейсы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4700016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Специализированный маркетплейс электроники и электрики: 3M+ SKU, приоритет на технические параметры, раздел спецификаций и проектов.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55961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→ Технические фильтры и смета = must-have для ниши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33672" y="3831336"/>
            <a:ext cx="3611880" cy="221284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33672" y="3831336"/>
            <a:ext cx="361188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394106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Alibaba 1688 (Китай)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2" y="4352543"/>
            <a:ext cx="3383280" cy="274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43616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B2B-маркетплейс промышленных товаров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4700016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Нишевый B2B-сегмент: прямые закупки от произво-дителей, удобная заявка спецификации, AI-подбор аналогов. GMV $200B+.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55961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→ AI-подбор и прямой выход на производителей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01584" y="3831336"/>
            <a:ext cx="3611880" cy="221284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01584" y="3831336"/>
            <a:ext cx="361188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8744" y="394106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ЭТМ / Три-Д (Россия)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38744" y="4352543"/>
            <a:ext cx="3383280" cy="2743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38744" y="436168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Ближайший локальный ориентир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1312" y="4700016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Каталог 700K+ SKU электрики, доставка, API для интеграторов. Но: устаревший UX, нет маркетплейс-модели, нет AI-сметы.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55961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→ VoltMarket = ЭТМ × маркетплейс × 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Дорожная карта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Три фазы развития — от MVP к лидеру рынка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11880" cy="4937760"/>
          </a:xfrm>
          <a:prstGeom prst="rect">
            <a:avLst/>
          </a:prstGeom>
          <a:solidFill>
            <a:srgbClr val="2A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11880" cy="65836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4630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Q1–Q2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647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ФАЗА 1: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Разработка и запуск платформы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0662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Подключение 20–25 продавцов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1868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Базовый каталог 2 000–2 500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3075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AI-смета (MVP версия)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4281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Интеграция 1С и 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548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Запуск SEO + контекстной рекламы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6694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Первые 600–700 заказов/квартал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696712"/>
            <a:ext cx="3611880" cy="65836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GMV: 20 млн 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1417320"/>
            <a:ext cx="3611880" cy="4937760"/>
          </a:xfrm>
          <a:prstGeom prst="rect">
            <a:avLst/>
          </a:prstGeom>
          <a:solidFill>
            <a:srgbClr val="2A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24528" y="1417320"/>
            <a:ext cx="3611880" cy="658368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34256" y="14630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Q3 2026 – Q4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17647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ФАЗА 2: МАСШТАБ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1945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Расширение до 120 продавцов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270662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Каталог 10 000–13 000 SKU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321868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Запуск B2B-кабинета (ЭДО, отсрочка)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373075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AI-смета с полным OCR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24281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Реферальная программа для электриков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7548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Выход в Самару, Уфу, Казань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26694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3 000+ заказов/квартал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5696712"/>
            <a:ext cx="3611880" cy="658368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15968" y="5760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GMV: 141 млн ₽/год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83296" y="1417320"/>
            <a:ext cx="3611880" cy="4937760"/>
          </a:xfrm>
          <a:prstGeom prst="rect">
            <a:avLst/>
          </a:prstGeom>
          <a:solidFill>
            <a:srgbClr val="2A2A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83296" y="1417320"/>
            <a:ext cx="3611880" cy="658368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93024" y="14630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2028+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1764792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ФАЗА 3: ПЛАТФОРМА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0456" y="21945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300+ активных продавцов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0456" y="270662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30 000+ SKU, 5M+ в перспективе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0456" y="321868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Сервис проектирования онлайн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456" y="373075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Финансирование для B2B (факторинг)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0456" y="424281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Мобильное приложение для мастеров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0456" y="475488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API для интеграторов и проектировщиков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0456" y="526694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✓  7 500+ заказов/квартал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83296" y="5696712"/>
            <a:ext cx="3611880" cy="658368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74736" y="5760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GMV: 409 млн ₽/год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91356" y="3611880"/>
            <a:ext cx="228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75945"/>
                </a:solidFill>
                <a:latin typeface="Calibri"/>
              </a:rPr>
              <a:t>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50124" y="3611880"/>
            <a:ext cx="228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75945"/>
                </a:solidFill>
                <a:latin typeface="Calibri"/>
              </a:rPr>
              <a:t>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Финансовая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Горизонт 3 года · квартальные данные · рост GMV 20× за 2 года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474720" cy="457200"/>
          </a:xfrm>
          <a:prstGeom prst="rect">
            <a:avLst/>
          </a:prstGeom>
          <a:solidFill>
            <a:srgbClr val="1A1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Показатель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0" y="1463040"/>
            <a:ext cx="2560320" cy="45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536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2026 (план)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2560320" cy="45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36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2027 (план)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463040"/>
            <a:ext cx="2560320" cy="4572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536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2028 (прогноз)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34747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933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GMV, млн 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920240"/>
            <a:ext cx="25603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9933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51,7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920240"/>
            <a:ext cx="25603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933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141,6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920240"/>
            <a:ext cx="2560320" cy="457200"/>
          </a:xfrm>
          <a:prstGeom prst="rect">
            <a:avLst/>
          </a:prstGeom>
          <a:solidFill>
            <a:srgbClr val="3D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9933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75945"/>
                </a:solidFill>
                <a:latin typeface="Calibri"/>
              </a:rPr>
              <a:t>408,9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377440"/>
            <a:ext cx="3474720" cy="4572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4505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Выручка платформы, млн 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2377440"/>
            <a:ext cx="2560320" cy="4572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24505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4,4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377440"/>
            <a:ext cx="2560320" cy="4572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4505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11,9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2377440"/>
            <a:ext cx="2560320" cy="457200"/>
          </a:xfrm>
          <a:prstGeom prst="rect">
            <a:avLst/>
          </a:prstGeom>
          <a:solidFill>
            <a:srgbClr val="3D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24505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75945"/>
                </a:solidFill>
                <a:latin typeface="Calibri"/>
              </a:rPr>
              <a:t>34,1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834640"/>
            <a:ext cx="34747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EBITDA, млн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2834640"/>
            <a:ext cx="25603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29077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1,0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834640"/>
            <a:ext cx="25603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9077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7,2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834640"/>
            <a:ext cx="2560320" cy="457200"/>
          </a:xfrm>
          <a:prstGeom prst="rect">
            <a:avLst/>
          </a:prstGeom>
          <a:solidFill>
            <a:srgbClr val="3D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29077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75945"/>
                </a:solidFill>
                <a:latin typeface="Calibri"/>
              </a:rPr>
              <a:t>26,6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291840"/>
            <a:ext cx="3474720" cy="4572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3649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Маржа EBITDA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0" y="3291840"/>
            <a:ext cx="2560320" cy="4572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0" y="33649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22%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291840"/>
            <a:ext cx="2560320" cy="4572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3649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61%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3291840"/>
            <a:ext cx="2560320" cy="457200"/>
          </a:xfrm>
          <a:prstGeom prst="rect">
            <a:avLst/>
          </a:prstGeom>
          <a:solidFill>
            <a:srgbClr val="3D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0" y="33649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75945"/>
                </a:solidFill>
                <a:latin typeface="Calibri"/>
              </a:rPr>
              <a:t>78%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749040"/>
            <a:ext cx="34747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8221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Заказы, тыс/год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0" y="3749040"/>
            <a:ext cx="25603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31920" y="3822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4,4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3749040"/>
            <a:ext cx="25603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3822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9,0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3749040"/>
            <a:ext cx="2560320" cy="457200"/>
          </a:xfrm>
          <a:prstGeom prst="rect">
            <a:avLst/>
          </a:prstGeom>
          <a:solidFill>
            <a:srgbClr val="3D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0" y="38221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75945"/>
                </a:solidFill>
                <a:latin typeface="Calibri"/>
              </a:rPr>
              <a:t>22,9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206240"/>
            <a:ext cx="3474720" cy="4572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2793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Средний чек (AOV), ₽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4206240"/>
            <a:ext cx="2560320" cy="4572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0" y="42793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15 350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206240"/>
            <a:ext cx="2560320" cy="4572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42793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16 675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61120" y="4206240"/>
            <a:ext cx="2560320" cy="457200"/>
          </a:xfrm>
          <a:prstGeom prst="rect">
            <a:avLst/>
          </a:prstGeom>
          <a:solidFill>
            <a:srgbClr val="3D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52560" y="42793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75945"/>
                </a:solidFill>
                <a:latin typeface="Calibri"/>
              </a:rPr>
              <a:t>18 250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663440"/>
            <a:ext cx="34747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7365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Кол-во продавцов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0" y="4663440"/>
            <a:ext cx="25603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31920" y="47365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4663440"/>
            <a:ext cx="25603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2240" y="47365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61120" y="4663440"/>
            <a:ext cx="2560320" cy="457200"/>
          </a:xfrm>
          <a:prstGeom prst="rect">
            <a:avLst/>
          </a:prstGeom>
          <a:solidFill>
            <a:srgbClr val="3D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52560" y="47365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75945"/>
                </a:solidFill>
                <a:latin typeface="Calibri"/>
              </a:rPr>
              <a:t>300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120640"/>
            <a:ext cx="3474720" cy="4572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1937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SKU, тыс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40480" y="5120640"/>
            <a:ext cx="2560320" cy="4572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31920" y="51937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5120640"/>
            <a:ext cx="2560320" cy="457200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92240" y="51937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61120" y="5120640"/>
            <a:ext cx="2560320" cy="457200"/>
          </a:xfrm>
          <a:prstGeom prst="rect">
            <a:avLst/>
          </a:prstGeom>
          <a:solidFill>
            <a:srgbClr val="3D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52560" y="51937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75945"/>
                </a:solidFill>
                <a:latin typeface="Calibri"/>
              </a:rPr>
              <a:t>30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5577840"/>
            <a:ext cx="34747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565099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LTV/CAC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0480" y="5577840"/>
            <a:ext cx="25603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31920" y="56509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0,5×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0" y="5577840"/>
            <a:ext cx="2560320" cy="45720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92240" y="56509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1,1×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61120" y="5577840"/>
            <a:ext cx="2560320" cy="457200"/>
          </a:xfrm>
          <a:prstGeom prst="rect">
            <a:avLst/>
          </a:prstGeom>
          <a:solidFill>
            <a:srgbClr val="3D2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52560" y="565099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75945"/>
                </a:solidFill>
                <a:latin typeface="Calibri"/>
              </a:rPr>
              <a:t>2,2×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576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alibri"/>
              </a:rPr>
              <a:t>* Данные рассчитаны на основе финансовой модели. Прогноз 2028 г. консервативный.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Юнит-экономика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Ключевые метрики эффективности маркетплейса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44752"/>
            <a:ext cx="2606040" cy="1298448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CAC (Q1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92224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1 500 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6771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DD"/>
                </a:solidFill>
                <a:latin typeface="Calibri"/>
              </a:rPr>
              <a:t>Стоимость привлечения
нового покупателя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1444752"/>
            <a:ext cx="2606040" cy="1298448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51790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AOV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1792224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15 000–15 600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226771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DD"/>
                </a:solidFill>
                <a:latin typeface="Calibri"/>
              </a:rPr>
              <a:t>Средний чек
за квартал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444752"/>
            <a:ext cx="2606040" cy="12984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151790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Take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1792224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26771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DD"/>
                </a:solidFill>
                <a:latin typeface="Calibri"/>
              </a:rPr>
              <a:t>Комиссия платформы
(фиксированная)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1976" y="1444752"/>
            <a:ext cx="2606040" cy="129844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1517904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EBITDA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1792224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+1,0 млн 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267712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DDDDD"/>
                </a:solidFill>
                <a:latin typeface="Calibri"/>
              </a:rPr>
              <a:t>Совокупная EBITDA
за год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9260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ДИНАМИКА LTV / CAC — ПУТЬ К ПРИБЫЛЬНОСТИ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01568"/>
            <a:ext cx="2606040" cy="2212848"/>
          </a:xfrm>
          <a:prstGeom prst="rect">
            <a:avLst/>
          </a:prstGeom>
          <a:solidFill>
            <a:srgbClr val="8B2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930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Q1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7705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LTV / CAC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788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0,27×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Старт — вложения в рост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27832" y="3401568"/>
            <a:ext cx="2606040" cy="2212848"/>
          </a:xfrm>
          <a:prstGeom prst="rect">
            <a:avLst/>
          </a:prstGeom>
          <a:solidFill>
            <a:srgbClr val="AA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9272" y="34930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9272" y="387705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LTV / CAC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9272" y="41788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0,50×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9272" y="4937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Набор базы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9904" y="3401568"/>
            <a:ext cx="2606040" cy="2212848"/>
          </a:xfrm>
          <a:prstGeom prst="rect">
            <a:avLst/>
          </a:prstGeom>
          <a:solidFill>
            <a:srgbClr val="CC7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81344" y="34930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Q3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387705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LTV / CAC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81344" y="41788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1,09×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1344" y="4937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Break-even unit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51976" y="3401568"/>
            <a:ext cx="2606040" cy="2212848"/>
          </a:xfrm>
          <a:prstGeom prst="rect">
            <a:avLst/>
          </a:prstGeom>
          <a:solidFill>
            <a:srgbClr val="22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43416" y="34930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Q4 2028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3416" y="387705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  <a:latin typeface="Calibri"/>
              </a:rPr>
              <a:t>LTV / CAC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43416" y="41788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2,21×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3416" y="493776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Зрелая экономика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018520" y="2926080"/>
            <a:ext cx="1005840" cy="3611880"/>
          </a:xfrm>
          <a:prstGeom prst="rect">
            <a:avLst/>
          </a:prstGeom>
          <a:solidFill>
            <a:srgbClr val="202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64240" y="30175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</a:rPr>
              <a:t>Churn
продавцов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34015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75945"/>
                </a:solidFill>
                <a:latin typeface="Calibri"/>
              </a:rPr>
              <a:t>3%/мес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38679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</a:rPr>
              <a:t>Доля
возвратов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42519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75945"/>
                </a:solidFill>
                <a:latin typeface="Calibri"/>
              </a:rPr>
              <a:t>2–3%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471830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</a:rPr>
              <a:t>Конверсия
в заказ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51023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75945"/>
                </a:solidFill>
                <a:latin typeface="Calibri"/>
              </a:rPr>
              <a:t>4→5%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55686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Calibri"/>
              </a:rPr>
              <a:t>Доля повт.
покупок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595274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75945"/>
                </a:solidFill>
                <a:latin typeface="Calibri"/>
              </a:rPr>
              <a:t>25→58%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Рост GMV по кварталам (млн 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Органический рост × привлечение продавцов = экспоненциальная динамика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526280"/>
            <a:ext cx="11155680" cy="9144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3434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36 млн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11155680" cy="9144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33375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71 млн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11155680" cy="9144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23317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107 млн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08760"/>
            <a:ext cx="11155680" cy="9144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13258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Calibri"/>
              </a:rPr>
              <a:t>142 млн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278013"/>
            <a:ext cx="829056" cy="254106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957973"/>
            <a:ext cx="829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05272"/>
            <a:ext cx="82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Q1'26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41704" y="5215898"/>
            <a:ext cx="829056" cy="316221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1704" y="4895858"/>
            <a:ext cx="829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1704" y="5605272"/>
            <a:ext cx="82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Q2'26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80488" y="5131195"/>
            <a:ext cx="829056" cy="400924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80488" y="4811155"/>
            <a:ext cx="829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80488" y="5605272"/>
            <a:ext cx="82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Q3'26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9272" y="5040846"/>
            <a:ext cx="829056" cy="491273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9272" y="4720806"/>
            <a:ext cx="829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9272" y="5605272"/>
            <a:ext cx="82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Q4'26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8056" y="4896852"/>
            <a:ext cx="829056" cy="635267"/>
          </a:xfrm>
          <a:prstGeom prst="rect">
            <a:avLst/>
          </a:prstGeom>
          <a:solidFill>
            <a:srgbClr val="9A9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8056" y="4576812"/>
            <a:ext cx="829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8056" y="5605272"/>
            <a:ext cx="82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Q1'27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6840" y="4707684"/>
            <a:ext cx="829056" cy="824435"/>
          </a:xfrm>
          <a:prstGeom prst="rect">
            <a:avLst/>
          </a:prstGeom>
          <a:solidFill>
            <a:srgbClr val="9A9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96840" y="4387644"/>
            <a:ext cx="829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6840" y="5605272"/>
            <a:ext cx="82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Q2'27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35624" y="4460635"/>
            <a:ext cx="829056" cy="1071484"/>
          </a:xfrm>
          <a:prstGeom prst="rect">
            <a:avLst/>
          </a:prstGeom>
          <a:solidFill>
            <a:srgbClr val="9A9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35624" y="4140595"/>
            <a:ext cx="829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35624" y="5605272"/>
            <a:ext cx="82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Q3'27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74408" y="4066769"/>
            <a:ext cx="829056" cy="1465350"/>
          </a:xfrm>
          <a:prstGeom prst="rect">
            <a:avLst/>
          </a:prstGeom>
          <a:solidFill>
            <a:srgbClr val="9A9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74408" y="3746729"/>
            <a:ext cx="829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4408" y="5605272"/>
            <a:ext cx="82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Q4'27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192" y="3634788"/>
            <a:ext cx="829056" cy="1897331"/>
          </a:xfrm>
          <a:prstGeom prst="rect">
            <a:avLst/>
          </a:prstGeom>
          <a:solidFill>
            <a:srgbClr val="AA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13192" y="3314748"/>
            <a:ext cx="829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3192" y="5605272"/>
            <a:ext cx="82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Q1'28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51976" y="3041871"/>
            <a:ext cx="829056" cy="2490248"/>
          </a:xfrm>
          <a:prstGeom prst="rect">
            <a:avLst/>
          </a:prstGeom>
          <a:solidFill>
            <a:srgbClr val="AA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51976" y="2721831"/>
            <a:ext cx="829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88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1976" y="5605272"/>
            <a:ext cx="82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Q2'28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90760" y="2398134"/>
            <a:ext cx="829056" cy="3133985"/>
          </a:xfrm>
          <a:prstGeom prst="rect">
            <a:avLst/>
          </a:prstGeom>
          <a:solidFill>
            <a:srgbClr val="AA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90760" y="2078094"/>
            <a:ext cx="829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0760" y="5605272"/>
            <a:ext cx="82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Q3'28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29544" y="1508760"/>
            <a:ext cx="829056" cy="4023360"/>
          </a:xfrm>
          <a:prstGeom prst="rect">
            <a:avLst/>
          </a:prstGeom>
          <a:solidFill>
            <a:srgbClr val="AA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29544" y="1188720"/>
            <a:ext cx="829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142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29544" y="5605272"/>
            <a:ext cx="829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BBBB"/>
                </a:solidFill>
                <a:latin typeface="Calibri"/>
              </a:rPr>
              <a:t>Q4'28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1463040"/>
            <a:ext cx="22860" cy="4069080"/>
          </a:xfrm>
          <a:prstGeom prst="rect">
            <a:avLst/>
          </a:prstGeom>
          <a:solidFill>
            <a:srgbClr val="666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1124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2026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58056" y="1463040"/>
            <a:ext cx="22860" cy="4069080"/>
          </a:xfrm>
          <a:prstGeom prst="rect">
            <a:avLst/>
          </a:prstGeom>
          <a:solidFill>
            <a:srgbClr val="666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58056" y="1124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2027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3192" y="1463040"/>
            <a:ext cx="22860" cy="4069080"/>
          </a:xfrm>
          <a:prstGeom prst="rect">
            <a:avLst/>
          </a:prstGeom>
          <a:solidFill>
            <a:srgbClr val="666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13192" y="1124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5945"/>
                </a:solidFill>
                <a:latin typeface="Calibri"/>
              </a:rPr>
              <a:t>2028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6144768"/>
            <a:ext cx="320040" cy="2286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56448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0" y="6144768"/>
            <a:ext cx="320040" cy="228600"/>
          </a:xfrm>
          <a:prstGeom prst="rect">
            <a:avLst/>
          </a:prstGeom>
          <a:solidFill>
            <a:srgbClr val="9A9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28048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2027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15600" y="6144768"/>
            <a:ext cx="320040" cy="228600"/>
          </a:xfrm>
          <a:prstGeom prst="rect">
            <a:avLst/>
          </a:prstGeom>
          <a:solidFill>
            <a:srgbClr val="AA3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99648" y="61264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2028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5943600"/>
            <a:ext cx="2606040" cy="56692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5989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GMV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" y="6217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51,7 млн ₽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10128" y="5943600"/>
            <a:ext cx="2606040" cy="56692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01568" y="5989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GMV 2027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01568" y="6217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141,6 млн 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17336" y="5943600"/>
            <a:ext cx="2606040" cy="566928"/>
          </a:xfrm>
          <a:prstGeom prst="rect">
            <a:avLst/>
          </a:prstGeom>
          <a:solidFill>
            <a:srgbClr val="383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08776" y="5989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GMV 2028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08776" y="6217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408,9 млн ₽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24544" y="5943600"/>
            <a:ext cx="2606040" cy="566928"/>
          </a:xfrm>
          <a:prstGeom prst="rect">
            <a:avLst/>
          </a:prstGeom>
          <a:solidFill>
            <a:srgbClr val="3D1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15984" y="598932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Рост 2026→2028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15984" y="6217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5945"/>
                </a:solidFill>
                <a:latin typeface="Calibri"/>
              </a:rPr>
              <a:t>×7,9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Команда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Опытный предпринимательский костяк + ключевые найм на инвестиции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ТЕКУЩАЯ КОМАНДА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577840" cy="80467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64008" cy="80467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751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👤  Директор / Product 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3408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6+ лет в рознице электротоваров. Построение команды, стратегия, работа с B2B. VoltMarket.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88920"/>
            <a:ext cx="5577840" cy="80467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64008" cy="80467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8437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👥  Отдел продаж и закупок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2095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3–5 менеджеров, знание ассортимента, клиентская база. Основа для категорийных менеджеров.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5577840" cy="80467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64008" cy="80467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7124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💻  Внешняя IT-поддержка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0782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Действующая инфраструктура volt-market.com. Готов к переходу на маркетплейс-платформу.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26280"/>
            <a:ext cx="5577840" cy="804672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526280"/>
            <a:ext cx="64008" cy="80467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5811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📦  Логистика и склад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9469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  <a:latin typeface="Calibri"/>
              </a:rPr>
              <a:t>Отработанные процессы, договоры с СДЭК и ПЭК. Работаем по DBS/FBS с первого дня.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417320"/>
            <a:ext cx="45720" cy="507492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44475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75945"/>
                </a:solidFill>
                <a:latin typeface="Calibri"/>
              </a:rPr>
              <a:t>НАЙМ НА ИНВЕСТИЦИИ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920240"/>
            <a:ext cx="1097280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331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Q1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196596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 CTO / Тех. директор — разработка платформы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3774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 2× Менеджер по привлечению продавцов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7889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 SEO / Performance маркетолог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227832"/>
            <a:ext cx="1097280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639312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Q2–Q3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32735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 AI/ML-разработчик — смета и OCR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368503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 Категорийный менеджер (электрика)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09651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 Customer Success Manager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535424"/>
            <a:ext cx="1097280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94690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2027+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458114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 Аналитик данных / BI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499262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 Контент-команда (фото, видео, тексты)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540410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•  B2B-менеджер (работа с СМО)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Использование инвестиций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Запрашиваемое финансирование: 20 000 000 ₽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30000" cy="10058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РАУНД SEED: 20 000 000 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97480"/>
            <a:ext cx="2606040" cy="202996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260604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75945"/>
                </a:solidFill>
                <a:latin typeface="Calibri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558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Разработка платформы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13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75945"/>
                </a:solidFill>
                <a:latin typeface="Calibri"/>
              </a:rPr>
              <a:t>7 000 000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  <a:latin typeface="Calibri"/>
              </a:rPr>
              <a:t>Маркетплейс-движок, AI-смета, личный кабинет продавца, B2B-инструменты, мобильное приложение (v1)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7832" y="2697480"/>
            <a:ext cx="2606040" cy="202996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27832" y="2697480"/>
            <a:ext cx="2606040" cy="64008"/>
          </a:xfrm>
          <a:prstGeom prst="rect">
            <a:avLst/>
          </a:prstGeom>
          <a:solidFill>
            <a:srgbClr val="C04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2788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04735"/>
                </a:solidFill>
                <a:latin typeface="Calibri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33558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Маркетинг и CAC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3813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04735"/>
                </a:solidFill>
                <a:latin typeface="Calibri"/>
              </a:rPr>
              <a:t>6 000 000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  <a:latin typeface="Calibri"/>
              </a:rPr>
              <a:t>SEO, контекст, контент-маркетинг, участие в выставках, реферальная программа для электриков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9904" y="2697480"/>
            <a:ext cx="2606040" cy="202996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9904" y="2697480"/>
            <a:ext cx="2606040" cy="64008"/>
          </a:xfrm>
          <a:prstGeom prst="rect">
            <a:avLst/>
          </a:prstGeom>
          <a:solidFill>
            <a:srgbClr val="7F7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2788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7F7F7E"/>
                </a:solidFill>
                <a:latin typeface="Calibri"/>
              </a:rPr>
              <a:t>22.5%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3558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Команда (ФОТ 12 мес)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1344" y="3813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F7F7E"/>
                </a:solidFill>
                <a:latin typeface="Calibri"/>
              </a:rPr>
              <a:t>4 500 000 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1344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  <a:latin typeface="Calibri"/>
              </a:rPr>
              <a:t>CTO, AI-разработчик, менеджеры продавцов, маркетолог — ядро команды на год запуска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51976" y="2697480"/>
            <a:ext cx="2606040" cy="2029968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51976" y="2697480"/>
            <a:ext cx="2606040" cy="64008"/>
          </a:xfrm>
          <a:prstGeom prst="rect">
            <a:avLst/>
          </a:prstGeom>
          <a:solidFill>
            <a:srgbClr val="555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43416" y="27889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55554"/>
                </a:solidFill>
                <a:latin typeface="Calibri"/>
              </a:rPr>
              <a:t>12.5%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6" y="33558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Оборотный капитал
и операции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3416" y="38130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55554"/>
                </a:solidFill>
                <a:latin typeface="Calibri"/>
              </a:rPr>
              <a:t>2 500 000 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3416" y="4206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  <a:latin typeface="Calibri"/>
              </a:rPr>
              <a:t>Склад, логистика, юридическое сопровождение, ЭДО-интеграция, резервный фонд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956048"/>
            <a:ext cx="11430000" cy="566928"/>
          </a:xfrm>
          <a:prstGeom prst="rect">
            <a:avLst/>
          </a:prstGeom>
          <a:solidFill>
            <a:srgbClr val="22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01091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75945"/>
                </a:solidFill>
                <a:latin typeface="Calibri"/>
              </a:rPr>
              <a:t>⏱  Выход на операционный безубыток: Q2 2026 (через 3–4 месяца после запуска)  ·  Возврат инвестиций: Q3–Q4 2027  ·  Оценка компании 2028: 100–170 млн 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623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СЦЕНАРИИ ВЫХОДА ДЛЯ ИНВЕСТОРА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016752"/>
            <a:ext cx="3566160" cy="594360"/>
          </a:xfrm>
          <a:prstGeom prst="rect">
            <a:avLst/>
          </a:prstGeom>
          <a:solidFill>
            <a:srgbClr val="3A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0441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▶ Стратег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309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Продажа нишевому маркетплейсу или дистрибьютору. Мультипликатор 4–6× Revenue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799" y="6016752"/>
            <a:ext cx="3566160" cy="594360"/>
          </a:xfrm>
          <a:prstGeom prst="rect">
            <a:avLst/>
          </a:prstGeom>
          <a:solidFill>
            <a:srgbClr val="3A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59" y="60441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▶ Buyback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59" y="6309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Выкуп доли основателями по согласованной оценке к 2028 году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38" y="6016752"/>
            <a:ext cx="3566160" cy="594360"/>
          </a:xfrm>
          <a:prstGeom prst="rect">
            <a:avLst/>
          </a:prstGeom>
          <a:solidFill>
            <a:srgbClr val="3A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0998" y="60441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5945"/>
                </a:solidFill>
                <a:latin typeface="Calibri"/>
              </a:rPr>
              <a:t>▶ Следующий раунд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0998" y="63093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  <a:latin typeface="Calibri"/>
              </a:rPr>
              <a:t>Раунд A при достижении GMV 200M+ для масштабирования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Почему VoltMarket? Почему сейчас?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5 причин инвестировать в нишевый маркетплейс электротоваров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338560" cy="1051560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685800" cy="105156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5544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Рынок готов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6596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Рынок электротоваров РФ ≈1,8 трлн ₽. Онлайн-сегмент растёт на 28%/год. Нишевых профессиональных маркетплейсов — нет.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24328"/>
            <a:ext cx="11338560" cy="1051560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24328"/>
            <a:ext cx="685800" cy="105156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7157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Готовый плацдарм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127248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volt-market.com — 6 лет работы, клиентская база, отношения с поставщиками, знание продукта. Риски старта минимальны.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85616"/>
            <a:ext cx="11338560" cy="1051560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85616"/>
            <a:ext cx="685800" cy="105156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8770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Уникальный AI-продукт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288536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AI-смета из любого файла — нет ни у кого из конкурентов. Барьер для входа конкурентов: 12–18 месяцев разработки.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46904"/>
            <a:ext cx="11338560" cy="1051560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946904"/>
            <a:ext cx="685800" cy="105156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202936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0383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Чёткая финансовая модель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5449824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Выход на EBITDA+ с Q2 2026. GMV ×7,9 за 2 года. Take rate 8% — привлекательнее любого игрока рынка.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108192"/>
            <a:ext cx="11338560" cy="1051560"/>
          </a:xfrm>
          <a:prstGeom prst="rect">
            <a:avLst/>
          </a:prstGeom>
          <a:solidFill>
            <a:srgbClr val="2E2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6108192"/>
            <a:ext cx="685800" cy="105156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64224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61996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Масштабируемая модель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661111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  <a:latin typeface="Calibri"/>
              </a:rPr>
              <a:t>От Оренбурга → Поволжье → федеральный охват. Модель работает в любом городе-миллионнике. Готов к следующему раунду при GMV 200M+.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48472" y="0"/>
            <a:ext cx="3840480" cy="6858000"/>
          </a:xfrm>
          <a:prstGeom prst="rect">
            <a:avLst/>
          </a:prstGeom>
          <a:solidFill>
            <a:srgbClr val="222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48472" y="0"/>
            <a:ext cx="45720" cy="685800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315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D75945"/>
                </a:solidFill>
                <a:latin typeface="Calibri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VoltMarket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5029200" cy="64008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75945"/>
                </a:solidFill>
                <a:latin typeface="Calibri"/>
              </a:rPr>
              <a:t>Нишевый маркетплейс электротоваров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AAAA"/>
                </a:solidFill>
                <a:latin typeface="Calibri"/>
              </a:rPr>
              <a:t>«Вместе создаём светлое будущее»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60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alibri"/>
              </a:rPr>
              <a:t>🌐  Сайт: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160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volt-market.com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908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alibri"/>
              </a:rPr>
              <a:t>📞  Телефон: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6908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8 800 550 11 61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2122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alibri"/>
              </a:rPr>
              <a:t>📧  E-mail: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2212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info@volt-market.com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5157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  <a:latin typeface="Calibri"/>
              </a:rPr>
              <a:t>📍  Оренбург,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75157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сеть магазинов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457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75945"/>
                </a:solidFill>
                <a:latin typeface="Calibri"/>
              </a:rPr>
              <a:t>ПРЕДЛОЖЕНИЕ
ДЛЯ ИНВЕСТОРА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77072" y="1417320"/>
            <a:ext cx="3383280" cy="594360"/>
          </a:xfrm>
          <a:prstGeom prst="rect">
            <a:avLst/>
          </a:prstGeom>
          <a:solidFill>
            <a:srgbClr val="D759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2" y="1508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Запрос: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2" y="149047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20 000 000 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77072" y="2075688"/>
            <a:ext cx="338328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8512" y="21671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Стадия: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77272" y="214884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Seed Round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77072" y="2734056"/>
            <a:ext cx="338328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2825496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Break-even: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77272" y="280720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77072" y="3392424"/>
            <a:ext cx="338328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68512" y="348386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GMV 2028: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7272" y="346557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409 млн 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77072" y="4050792"/>
            <a:ext cx="338328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68512" y="414223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Выручка 2028: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7272" y="412394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34 млн 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77072" y="4709160"/>
            <a:ext cx="338328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68512" y="48006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EBITDA 2028: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77272" y="478231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26,6 млн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77072" y="5367528"/>
            <a:ext cx="3383280" cy="594360"/>
          </a:xfrm>
          <a:prstGeom prst="rect">
            <a:avLst/>
          </a:prstGeom>
          <a:solidFill>
            <a:srgbClr val="303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68512" y="54589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Оценка 2028: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7272" y="544068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100–170 млн 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31352" y="6446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5"/>
                </a:solidFill>
                <a:latin typeface="Calibri"/>
              </a:rPr>
              <a:t>КОНФИДЕНЦИАЛЬНО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