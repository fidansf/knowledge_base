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2792" y="0"/>
            <a:ext cx="3566160" cy="6858000"/>
          </a:xfrm>
          <a:prstGeom prst="rect">
            <a:avLst/>
          </a:prstGeom>
          <a:solidFill>
            <a:srgbClr val="22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22792" y="0"/>
            <a:ext cx="50292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D75945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VoltMarket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999232"/>
            <a:ext cx="50292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D75945"/>
                </a:solidFill>
                <a:latin typeface="Calibri"/>
              </a:rPr>
              <a:t>НИШЕВЫЙ МАРКЕТПЛЕЙС ЭЛЕКТРОТОВАРОВ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587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Инвестиционное предложение · 2026 · Версия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  <a:latin typeface="Calibri"/>
              </a:rPr>
              <a:t>volt-market.com  |  8 800 550 11 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  <a:latin typeface="Calibri"/>
              </a:rPr>
              <a:t>«Вместе создаём светлое будущее»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7384" y="1371600"/>
            <a:ext cx="3246120" cy="1143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24544" y="144475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10+
лет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7584" y="157276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На рынке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87384" y="2651760"/>
            <a:ext cx="3246120" cy="11430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4544" y="272491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100+
поставщиков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285292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Уже сейчас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87384" y="3931920"/>
            <a:ext cx="3246120" cy="1143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4544" y="400507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300 000
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7584" y="413308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В каталоге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87384" y="5212080"/>
            <a:ext cx="3246120" cy="11430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4544" y="5285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 лет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7584" y="541324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Интернет-
магазин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64739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Содержание презентации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60020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Рыночная возможность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9280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Рынок 1,8 трлн ₽ · 28% рост онлайна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9047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Проблема и решение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9280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Боли рынка и ответ VoltMarket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7744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37744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256032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45059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Продукт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85292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Платформа · AI-смета · 300K→5M SKU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37744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37744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256032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5059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Для покупателей и продавцов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85292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B2C / Электрики / B2B СМО · 100→400 продавцов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3756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33756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352044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41071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Бизнес-модель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81304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Комиссия 8% · Подписка · Реклама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33756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33756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352044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41071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Конкурентный анализ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81304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vs Wildberries · OZON · специализированные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9768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29768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448056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37083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Мировые практики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7731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Zoro · Würth · Grainger · ЭТМ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29768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29768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7064" y="448056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37083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Дорожная карта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7731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Июнь 2026 → MVP → Scale → Platform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25780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25780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" y="544068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33095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Финансовая модель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73328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GMV 175M→750M→2 250M · EBITDA 12%→41%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257800"/>
            <a:ext cx="5577840" cy="89611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5257800"/>
            <a:ext cx="502920" cy="89611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7064" y="544068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330952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Команда и инвестиции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73328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21 чел. сейчас · запрос 40M ₽ · ROI ×5+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Рыночная возможность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Электротовары — крупнейший нецифровизованный сегмент строительного рынка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51760" cy="1417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1,8 трлн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Объём рынка
электротоваров РФ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463040"/>
            <a:ext cx="2651760" cy="141732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554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3134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Рост онлайн-
сегмента /год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463040"/>
            <a:ext cx="2651760" cy="141732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554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&lt; 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134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Доля нишевых
маркетплейсов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704" y="1463040"/>
            <a:ext cx="2651760" cy="141732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1554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5M+ SKU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3134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Позиций в категории
электрика РФ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0672"/>
            <a:ext cx="11430000" cy="10789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090672"/>
            <a:ext cx="64008" cy="10789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16382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⚡  VoltMarket — готовый плацдарм (10+ лет, 100+ поставщиков, 300K SKU)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547872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Действующий бизнес с клиентской базой Оренбурга и Поволжья. 6 лет работы интернет-магазина volt-market.com. Команда 21 человек. Отлаженная логистика со СДЭК, Деловые Линии, ПЭК и индивидуальными перевозчиками.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61104"/>
            <a:ext cx="11430000" cy="10789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61104"/>
            <a:ext cx="64008" cy="10789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33425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📈  Нишевые маркетплейсы растут в 2–3× быстрее универсальных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718304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По данным Data Insight, специализированные площадки показывают CAGR 45–60% против 25–30% у Wildberries и Ozon. Профессиональная аудитория даёт LTV в 3–5× выше массового покупателя.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31536"/>
            <a:ext cx="11430000" cy="10789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431536"/>
            <a:ext cx="64008" cy="10789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504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🏗️  B2B-сегмент электрики ещё не оцифрован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888736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Более 80% закупок для строительно-монтажных организаций происходит офлайн или через разрозненные прайс-листы. Инструмент для работы со сметами и проектами онлайн — голубой океан объёмом 400+ млрд ₽/год.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Рынок фрагментирован — покупатели и поставщики страдают ежедневно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БОЛИ ПОКУПАТЕЛЕЙ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БОЛИ ПРОДАВЦОВ / ПОСТАВЩИКОВ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3328" y="1325880"/>
            <a:ext cx="45720" cy="51206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548640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8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единой площадки «всей электрики»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38528"/>
            <a:ext cx="557784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2996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Комиссии Wildberries/Ozon: 15–35%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88336"/>
            <a:ext cx="548640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79776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Подбор по проекту — часами, вручную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688336"/>
            <a:ext cx="557784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79776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Целевая аудитория «не та»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38144"/>
            <a:ext cx="548640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2958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Сложно сравнить цены поставщиков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438144"/>
            <a:ext cx="557784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2958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Загрузка каталога — трудоёмко, нет 1С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87952"/>
            <a:ext cx="548640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7939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Смета и спецификация — отдельный боль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187952"/>
            <a:ext cx="557784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27939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инструментов для смет и проектов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37760"/>
            <a:ext cx="548640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292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B2B-инструментов: отсрочки, ЭДО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937760"/>
            <a:ext cx="557784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02920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Непрозрачные выплаты, сложная отчётность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87568"/>
            <a:ext cx="548640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779008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Доставка на объект не гарантирована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687568"/>
            <a:ext cx="5577840" cy="676656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77900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рекламы для профессиональной ЦА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Наше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VoltMarket — профессиональный нишевый маркетплейс электротоваров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17320"/>
            <a:ext cx="9966960" cy="9875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Единая платформа: подбор → AI-смета → проект → заказ → доставка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78608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578608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6883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⚡  AI-смета
из файла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310128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PDF, Excel, Word, DWG, JPEG — система сама строит спецификацию за 5 минут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2578608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2578608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6883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🔍  Умный
подбор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10128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Фильтрация по техпараметрам, аналогам, совместимости оборудования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2578608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2578608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6883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📦  300K→5M
SKU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310128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Старт с 300 тыс. позиций. Цель: 2,5M за год, 5M за 2 года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425696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425696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45354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🏗️  B2B
инструменты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15721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Счета, ЭДО, отсрочка платежа, история проектов, смета под клиента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4425696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4425696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5354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🛒  Комиссия
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15721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Прозрачно: ниже любого конкурента. Еженедельные выплаты продавцам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016" y="4425696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9016" y="4425696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45354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🚚  Логистика
готова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515721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СДЭК, Деловые Линии, ПЭК + индивидуальные доставки. FBS / DBS.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AI-смета и подбор из файла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Загрузите любой файл — платформа автоматически строит спецификацию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057400" cy="2148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1892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Загрузка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892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PDF, Excel, Word,
DWG, JPEG, текст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33172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463040"/>
            <a:ext cx="2057400" cy="2148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286000"/>
            <a:ext cx="1892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AI-распознавание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880360"/>
            <a:ext cx="1892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OCR + NLP разбирает
позиции и параметры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33172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1463040"/>
            <a:ext cx="2057400" cy="2148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55464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4" y="2286000"/>
            <a:ext cx="1892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Подбор в 300K+
SKU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4" y="2880360"/>
            <a:ext cx="1892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Сопоставление артикулов,
аналоги, наличие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3172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7456" y="1463040"/>
            <a:ext cx="2057400" cy="2148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7456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6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2286000"/>
            <a:ext cx="1892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Готовая смета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2880360"/>
            <a:ext cx="1892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Цены, аналоги, наличие.
Экономия 10–25%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233172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99448" y="1463040"/>
            <a:ext cx="2057400" cy="2148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99448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2286000"/>
            <a:ext cx="1892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Заказ за 1 клик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880360"/>
            <a:ext cx="1892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Весь список в корзину,
счёт и ЭДО автоматом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858768"/>
            <a:ext cx="269748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858768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95020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⏱  Время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36168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Вручную: 4–8 часов
С AI: 5–10 минут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5848" y="3858768"/>
            <a:ext cx="269748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55848" y="3858768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395020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💰  Экономия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36168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Подбор аналогов снижает
стоимость на 10–25%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0216" y="3858768"/>
            <a:ext cx="269748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0216" y="3858768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7376" y="395020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📊  Точность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436168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OCR + нейросеть: таблицы,
маркировки, артикулы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44584" y="3858768"/>
            <a:ext cx="269748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44584" y="3858768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81744" y="395020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🔁  Повтор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81744" y="4361688"/>
            <a:ext cx="2514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Сохранённый проект →
повторный заказ 1 клик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Для покупателей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Три сегмента — один маркетплейс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07492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D75945"/>
                </a:solidFill>
                <a:latin typeface="Calibri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Частные клиенты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724912"/>
            <a:ext cx="1463040" cy="329184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B2C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ЗАДАЧИ: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Ремонт квартиры / дома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593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Подбор светильников, розеток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Небольшие объёмы, нужна скорость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5945"/>
                </a:solidFill>
                <a:latin typeface="Calibri"/>
              </a:rPr>
              <a:t>ПОЛУЧАЮТ: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Удобный каталог с фото/видео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Умный фильтр по параметрам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5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Доставка курьером за 1–2 дня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371600"/>
            <a:ext cx="3657600" cy="507492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371600"/>
            <a:ext cx="36576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D75945"/>
                </a:solidFill>
                <a:latin typeface="Calibr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Электрики и мастера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67528" y="2724912"/>
            <a:ext cx="1463040" cy="329184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7528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B2C+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218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ЗАДАЧИ: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547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Точные аналоги по маркировке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9593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Расчёт кабеля и автоматики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3708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Профессиональный инструмент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5945"/>
                </a:solidFill>
                <a:latin typeface="Calibri"/>
              </a:rPr>
              <a:t>ПОЛУЧАЮТ: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5120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Подбор по техническим параметрам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55321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AI-смета из схемы или файла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59435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ЛК с историей заказов и проектов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1371600"/>
            <a:ext cx="3657600" cy="507492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1371600"/>
            <a:ext cx="36576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D75945"/>
                </a:solidFill>
                <a:latin typeface="Calibri"/>
              </a:rPr>
              <a:t>🏗️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СМО / Проектировщики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2016" y="2724912"/>
            <a:ext cx="1463040" cy="329184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6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B2B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3218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ЗАДАЧИ: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3547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Крупные спецификации 1000+ позиций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39593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Счета, ЭДО, отсрочка платежа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43708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Доставка на несколько объектов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7616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5945"/>
                </a:solidFill>
                <a:latin typeface="Calibri"/>
              </a:rPr>
              <a:t>ПОЛУЧАЮТ: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7616" y="5120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Загрузка проекта → смета автоматом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7616" y="55321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Счёт / ЭДО / рассрочка до 30 дней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59435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Персональный менеджер, SLA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Для продавцов (селлеров)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100+ поставщиков уже сейчас → цель 400 за 2 года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ПРЕИМУЩЕСТВА РАЗМЕЩЕНИЯ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62356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2023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🎯  Целевая аудитория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5856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100% профессионалы и DIY-покупатели электрики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70047"/>
            <a:ext cx="562356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70047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71576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💻  Быстрый старт за 1–3 дня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05409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Excel / XML / 1С-интеграция. Уже работаем с 100+ поставщиками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65575"/>
            <a:ext cx="562356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65575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51129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📊  Личный кабинет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84962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Аналитика, заказы, отзывы, выплаты — всё в одном окне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61103"/>
            <a:ext cx="562356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61103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0682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💰  Комиссия 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64515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Ниже любого конкурента. Без скрытых списаний и штрафов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56631"/>
            <a:ext cx="562356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056631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10235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📅  Выплаты каждую неделю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44067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Деньги на р/с еженедельно. УПД и ЭДО автоматически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52159"/>
            <a:ext cx="562356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52159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8978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📣  Рекламные инструменты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23620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Спонсируемые позиции, баннеры, участие в акциях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325880"/>
            <a:ext cx="45720" cy="51206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71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СТРУКТУРА КОМИССИИ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874519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198424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Базовая комиссия (Take Rate)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59568" y="1947671"/>
            <a:ext cx="1234440" cy="45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59568" y="196595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532887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6426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Подписка продавца (мес.)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59568" y="2606039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9568" y="2624327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5 500–7 500 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191255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30098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Комиссия эквайринга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59568" y="3264407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59568" y="3282695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1,8–2,0%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849623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95935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Субсидия доставки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59568" y="3922775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59568" y="3941063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от 0,5%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507991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6177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Платная реклама (опционально)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59568" y="4581143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59568" y="4599431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CPC / CPM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2303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РОСТ ЧИСЛА ПРОДАВЦОВ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623560"/>
            <a:ext cx="1234440" cy="7498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6692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Сейчас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9436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100+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98664" y="5623560"/>
            <a:ext cx="1234440" cy="74980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98664" y="56692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98664" y="59436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150+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87968" y="5623560"/>
            <a:ext cx="1234440" cy="74980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87968" y="56692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87968" y="59436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250+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77272" y="5623560"/>
            <a:ext cx="1234440" cy="7498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77272" y="56692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77272" y="59436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Бизнес-модель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Четыре потока выручки — устойчивый доход от первого месяца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141732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02920" cy="1417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801368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90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Комиссия с продаж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96512" y="1508760"/>
            <a:ext cx="1481328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152704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~72% выручки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9280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8% от Net GMV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402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Основной поток. Взимается после завершения заказа. Конкурентная ставка для привлечения поставщиков.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303520" cy="141732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417320"/>
            <a:ext cx="502920" cy="1417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1801368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Подписка продавцов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1508760"/>
            <a:ext cx="1481328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52704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~9% выручки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9280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5 500–7 500 ₽/мес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402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Фиксированная плата за витрину: ЛК, аналитика, ЭДО. Масштабируется с ростом числа селлеров: 100→400.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90088"/>
            <a:ext cx="5303520" cy="141732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990088"/>
            <a:ext cx="502920" cy="1417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374136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Рекламные инструменты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6512" y="3081528"/>
            <a:ext cx="1481328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6512" y="3099816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~12% выручки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46557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CPC / баннеры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813048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Спонсируемые позиции, баннеры, акции. Выручка растёт пропорционально трафику (467K→940K визитов/квартал).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990088"/>
            <a:ext cx="5303520" cy="141732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2990088"/>
            <a:ext cx="502920" cy="1417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3374136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Продакшн-услуги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74352" y="3081528"/>
            <a:ext cx="1481328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3099816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~7% выручки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46557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Контент / интеграции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813048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Профессиональная съёмка товаров, настройка 1С-интеграции, AI-смета под заказ для B2B-клиентов.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498848"/>
            <a:ext cx="11430000" cy="56692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5537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5945"/>
                </a:solidFill>
                <a:latin typeface="Calibri"/>
              </a:rPr>
              <a:t>К 2028 году GMV платформы превысит 2,25 млрд ₽ · Совокупная выручка VoltMarket — 287 млн ₽/год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166360"/>
            <a:ext cx="1828800" cy="80467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522122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GMV 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551383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750 млн 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5728" y="5166360"/>
            <a:ext cx="1828800" cy="80467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522122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GMV 2028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51383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2 250 млн 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25696" y="5166360"/>
            <a:ext cx="1828800" cy="80467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98848" y="522122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Выручка 2027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8848" y="551383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97 млн 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55664" y="5166360"/>
            <a:ext cx="1828800" cy="80467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28816" y="522122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Выручка 2028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8816" y="551383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287 млн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85632" y="5166360"/>
            <a:ext cx="1828800" cy="80467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58784" y="522122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EBITDA 2027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58784" y="551383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12 млн 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15600" y="5166360"/>
            <a:ext cx="1828800" cy="80467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88752" y="522122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EBITDA 2028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88752" y="551383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118 млн 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Конкурентный анализ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VoltMarket занимает уникальную нишу на рынке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3474720" cy="658368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27048"/>
            <a:ext cx="33467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Критерий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481328"/>
            <a:ext cx="2377440" cy="658368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1527048"/>
            <a:ext cx="22494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Wildberries
/ Ozon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81328"/>
            <a:ext cx="2743200" cy="658368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527048"/>
            <a:ext cx="26151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Специализир.
интернет-магазин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81328"/>
            <a:ext cx="2834640" cy="6583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1527048"/>
            <a:ext cx="27066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VoltMarket
Маркетплейс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39696"/>
            <a:ext cx="347472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212848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Нишевая аудитория (электрика)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139696"/>
            <a:ext cx="237744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2212848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39696"/>
            <a:ext cx="274320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212848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139696"/>
            <a:ext cx="2834640" cy="521207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2212848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60903"/>
            <a:ext cx="347472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734055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AI-смета из любого файла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660903"/>
            <a:ext cx="237744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2734055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60903"/>
            <a:ext cx="274320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734055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660903"/>
            <a:ext cx="2834640" cy="521207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2734055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82110"/>
            <a:ext cx="347472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55262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300K+ SKU электрики (→5M)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182110"/>
            <a:ext cx="237744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3255262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Частично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182110"/>
            <a:ext cx="274320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255262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Нет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182110"/>
            <a:ext cx="2834640" cy="521207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3255262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03317"/>
            <a:ext cx="347472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776469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B2B-инструменты (ЭДО, счета)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703317"/>
            <a:ext cx="237744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776469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703317"/>
            <a:ext cx="274320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3776469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Ограничено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703317"/>
            <a:ext cx="2834640" cy="521207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4272" y="3776469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24524"/>
            <a:ext cx="347472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297676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Комиссия для продавцов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4224524"/>
            <a:ext cx="237744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4297676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15–35%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224524"/>
            <a:ext cx="274320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4297676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4224524"/>
            <a:ext cx="2834640" cy="521207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4297676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8% 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745731"/>
            <a:ext cx="347472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818883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Интеграция с 1С / Excel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745731"/>
            <a:ext cx="237744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4818883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745731"/>
            <a:ext cx="274320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4818883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Редко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4745731"/>
            <a:ext cx="2834640" cy="521207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34272" y="4818883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266938"/>
            <a:ext cx="347472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5340090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Подбор по техпараметрам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0" y="5266938"/>
            <a:ext cx="237744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13632" y="5340090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Базовый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266938"/>
            <a:ext cx="2743200" cy="521207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1072" y="5340090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Частично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5266938"/>
            <a:ext cx="2834640" cy="521207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34272" y="5340090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788145"/>
            <a:ext cx="347472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5861297"/>
            <a:ext cx="334670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Доставка на объект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5788145"/>
            <a:ext cx="237744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13632" y="5861297"/>
            <a:ext cx="22494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788145"/>
            <a:ext cx="2743200" cy="521207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91072" y="5861297"/>
            <a:ext cx="261518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Частично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5788145"/>
            <a:ext cx="2834640" cy="521207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34272" y="5861297"/>
            <a:ext cx="2706624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  (СДЭК/ДЛ/ПЭК)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Мировые практики нишевых маркетплейсов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Успешные аналоги — модель работает глобально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Zoro (США)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7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Аналог — промтовары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86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10M+ SKU, оборот $500M+/год.
Фокус B2B + быстрая доставка.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1821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Широта SKU + B2B-сервис = лояльность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17320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17320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Würth (Германия)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938527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Крепёж и электроинструмент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86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€20B+ оборот. Экосистема: приложение
для мастеров, кредит для B2B.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1821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Сервисная экосистема удерживает профи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4" y="1417320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1417320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Cromwell (UK)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1938527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Промышленные расходники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286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650K+ SKU, интеграция с ERP клиентов.
40% рынка UK MRO.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1821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Интеграция в процессы клиента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31336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31336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41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Grainger (США)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52543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Лидер B2B-промтоваров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4700016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$15B выручки. AI-подбор аналогов.
Персональные цены для корп. клиентов.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55961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AI + персонализация = барьер для замены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3672" y="3831336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33672" y="3831336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941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Conrad / Elelektro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4352543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Электроника Европа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700016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3M+ SKU, технические фильтры.
Раздел спецификаций и проектов.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55961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Тех. фильтры + смета = must-have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01584" y="3831336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4" y="3831336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3941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ЭТМ (Россия)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38744" y="4352543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38744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Ближайший ориентир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4700016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700K SKU электрики. Но: устаревший UX,
нет маркетплейс-модели, нет AI-сметы.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5961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VoltMarket = ЭТМ × маркетплейс ×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Дорожная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Три фазы — от запуска маркетплейса к лидеру отрасли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11880" cy="4937760"/>
          </a:xfrm>
          <a:prstGeom prst="rect">
            <a:avLst/>
          </a:prstGeom>
          <a:solidFill>
            <a:srgbClr val="2A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11880" cy="6583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538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Июнь–Декабрь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647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ФАЗА 1: ЗАПУСК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Запуск маркетплейс-платформы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340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AI-смета: MVP-версия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100→150 продавцов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5818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SKU: 300K→500K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702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B2B-кабинет (базовый)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82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Интеграция 1С и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9437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Подключение СДЭК/ДЛ/ПЭК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064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14 000+ заказов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96712"/>
            <a:ext cx="3611880" cy="6583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GMV: 175 млн 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417320"/>
            <a:ext cx="3611880" cy="4937760"/>
          </a:xfrm>
          <a:prstGeom prst="rect">
            <a:avLst/>
          </a:prstGeom>
          <a:solidFill>
            <a:srgbClr val="2A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1417320"/>
            <a:ext cx="3611880" cy="65836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4256" y="14538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17647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ФАЗА 2: МАСШТАБ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22199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150→250 продавцов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27340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SKU: 500K→2,5M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2461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AI-смета: полный OCR+NLP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75818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B2B-кабинет: ЭДО, отсрочка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2702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Реферальная программа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782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Выход: Самара, Уфа, Казань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529437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Мобильное приложение v1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58064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50 000+ заказов/год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5696712"/>
            <a:ext cx="3611880" cy="65836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5760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GMV: 750 млн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1417320"/>
            <a:ext cx="3611880" cy="4937760"/>
          </a:xfrm>
          <a:prstGeom prst="rect">
            <a:avLst/>
          </a:prstGeom>
          <a:solidFill>
            <a:srgbClr val="2A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3296" y="1417320"/>
            <a:ext cx="3611880" cy="658368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4" y="14538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2028+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4" y="17647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ФАЗА 3: ПЛАТФОРМА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222199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250→400 продавцов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27340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SKU: 2,5M→5M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32461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Сервис проектирования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375818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Факторинг / финансирование B2B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42702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API для интеграторов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0456" y="4782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Федеральный охват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0456" y="529437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Раунд A при GMV 1B+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0456" y="58064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100 000+ заказов/год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3296" y="5696712"/>
            <a:ext cx="3611880" cy="658368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4736" y="5760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GMV: 2 250 млн 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91356" y="3611880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50124" y="3611880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Финансовая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Горизонт 3 года · Старт: июнь 2026 · GMV-based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4114800" cy="658368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3977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Показатель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81328"/>
            <a:ext cx="2286000" cy="658368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17904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H2 2026
(июнь–дек.)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481328"/>
            <a:ext cx="2286000" cy="658368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517904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2027
(год)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481328"/>
            <a:ext cx="2468880" cy="6583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517904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2028
(год)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39696"/>
            <a:ext cx="41148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3113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GMV — оборот платформы (млн ₽)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13969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23113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13969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23113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139696"/>
            <a:ext cx="2468880" cy="5943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23113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2 250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34056"/>
            <a:ext cx="41148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2549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Выручка VoltMarket (млн ₽)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73405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82549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21,6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73405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82549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96,9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734056"/>
            <a:ext cx="24688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82549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287,4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28416"/>
            <a:ext cx="41148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1985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Валовая маржа (млн ₽)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32841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41985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15,5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332841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41985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72,9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328416"/>
            <a:ext cx="246888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41985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227,5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22776"/>
            <a:ext cx="41148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01421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OPEX — операционные расходы (млн ₽)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392277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01421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29,4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92277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401421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61,4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3922776"/>
            <a:ext cx="24688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401421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109,6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517136"/>
            <a:ext cx="41148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60857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EBITDA (млн ₽)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4517136"/>
            <a:ext cx="2286000" cy="594360"/>
          </a:xfrm>
          <a:prstGeom prst="rect">
            <a:avLst/>
          </a:prstGeom>
          <a:solidFill>
            <a:srgbClr val="3D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460857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070"/>
                </a:solidFill>
                <a:latin typeface="Calibri"/>
              </a:rPr>
              <a:t>−13,9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451713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460857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FF50"/>
                </a:solidFill>
                <a:latin typeface="Calibri"/>
              </a:rPr>
              <a:t>+11,5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4517136"/>
            <a:ext cx="2468880" cy="594360"/>
          </a:xfrm>
          <a:prstGeom prst="rect">
            <a:avLst/>
          </a:prstGeom>
          <a:solidFill>
            <a:srgbClr val="1E3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460857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FF50"/>
                </a:solidFill>
                <a:latin typeface="Calibri"/>
              </a:rPr>
              <a:t>+117,9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11496"/>
            <a:ext cx="41148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20293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EBITDA маржа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560" y="511149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0" y="520293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6560" y="511149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520293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11,9%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5111496"/>
            <a:ext cx="2468880" cy="5943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520293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41,0%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705856"/>
            <a:ext cx="41148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79729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Заказов (тыс./год)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80560" y="570585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0" y="579729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0" y="570585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579729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52560" y="5705856"/>
            <a:ext cx="246888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0" y="579729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6300216"/>
            <a:ext cx="41148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39165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Средний чек AOV (₽)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80560" y="630021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0" y="639165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12 500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66560" y="630021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639165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15 000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52560" y="6300216"/>
            <a:ext cx="24688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0" y="639165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18 750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894576"/>
            <a:ext cx="41148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98601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Продавцов на конец периода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80560" y="689457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0" y="698601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125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66560" y="689457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0" y="698601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250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52560" y="6894576"/>
            <a:ext cx="246888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4000" y="698601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7488936"/>
            <a:ext cx="41148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758037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SKU (тыс. позиций)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80560" y="748893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0" y="758037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0" y="748893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0" y="758037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2 500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52560" y="7488936"/>
            <a:ext cx="24688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44000" y="758037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5 000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8083296"/>
            <a:ext cx="41148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817473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Трафик (млн визитов/год)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80560" y="808329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0" y="817473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0,47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66560" y="8083296"/>
            <a:ext cx="2286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58000" y="817473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1,54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52560" y="8083296"/>
            <a:ext cx="246888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00" y="817473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3,06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5760" y="8677656"/>
            <a:ext cx="41148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8769096"/>
            <a:ext cx="3977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80560" y="867765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0" y="876909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~0,3×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766560" y="8677656"/>
            <a:ext cx="228600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858000" y="8769096"/>
            <a:ext cx="2148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~0,8×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52560" y="8677656"/>
            <a:ext cx="24688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44000" y="8769096"/>
            <a:ext cx="2331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~2,2×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* Выручка VoltMarket = комиссии 8% + подписки + реклама + продакшн. GMV = полный оборот товаров.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Юнит-экономика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От убытка при запуске — к 41% EBITDA в 2028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2697480" cy="157276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CAC (старт)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1 500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34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Стоимость привлечения
покупателя. Снижается до
1 100 ₽ к концу 2028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44752"/>
            <a:ext cx="2697480" cy="157276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AOV (старт)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12 500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134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Средний чек растёт по мере
увеличения доли B2B: 30%→52%
B2B к концу 2028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44752"/>
            <a:ext cx="2697480" cy="15727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179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Take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922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134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Фиксированная комиссия.
Ниже любого конкурента.
Без скрытых платежей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44752"/>
            <a:ext cx="2697480" cy="15727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5179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Break-even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7922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134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Первый EBITDA+ квартал.
Выход на устойчивую
операционную прибыль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821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ДИНАМИКА LTV / CAC — ПУТЬ К ПРИБЫЛЬНОСТИ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39312"/>
            <a:ext cx="2606040" cy="2377440"/>
          </a:xfrm>
          <a:prstGeom prst="rect">
            <a:avLst/>
          </a:prstGeom>
          <a:solidFill>
            <a:srgbClr val="8B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307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H2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LTV / CAC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1655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~0,3×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9379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Инвест. фаза
FOT + платформа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8688" y="3639312"/>
            <a:ext cx="2606040" cy="2377440"/>
          </a:xfrm>
          <a:prstGeom prst="rect">
            <a:avLst/>
          </a:prstGeom>
          <a:solidFill>
            <a:srgbClr val="AA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37307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Q2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LTV / 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441655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~0,8×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519379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Приближение к
unit break-even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71616" y="3639312"/>
            <a:ext cx="2606040" cy="2377440"/>
          </a:xfrm>
          <a:prstGeom prst="rect">
            <a:avLst/>
          </a:prstGeom>
          <a:solidFill>
            <a:srgbClr val="CC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37307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Q4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LTV / 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441655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~1,1×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519379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Unit break-even
пройден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24544" y="3639312"/>
            <a:ext cx="2606040" cy="2377440"/>
          </a:xfrm>
          <a:prstGeom prst="rect">
            <a:avLst/>
          </a:prstGeom>
          <a:solidFill>
            <a:srgbClr val="22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5984" y="37307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Q4 2028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LTV / CAC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984" y="441655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~2,2×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5984" y="519379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Зрелая
экономика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45952" y="3182112"/>
            <a:ext cx="987552" cy="3749039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91672" y="3273552"/>
            <a:ext cx="896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Churn
прод.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2" y="3657600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5945"/>
                </a:solidFill>
                <a:latin typeface="Calibri"/>
              </a:rPr>
              <a:t>3%/мес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4160520"/>
            <a:ext cx="896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Возвраты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454456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5945"/>
                </a:solidFill>
                <a:latin typeface="Calibri"/>
              </a:rPr>
              <a:t>1,5–2,5%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5047488"/>
            <a:ext cx="896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Конверсия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5431536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5945"/>
                </a:solidFill>
                <a:latin typeface="Calibri"/>
              </a:rPr>
              <a:t>3→4%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1672" y="5934456"/>
            <a:ext cx="896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Повторные
покупки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318504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5945"/>
                </a:solidFill>
                <a:latin typeface="Calibri"/>
              </a:rPr>
              <a:t>25→58%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Рост GMV по кварталам (млн 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Органический рост × продавцы × AI = экспоненциальная динамика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491989"/>
            <a:ext cx="11155680" cy="10972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30910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188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97579"/>
            <a:ext cx="11155680" cy="10972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331469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375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03169"/>
            <a:ext cx="11155680" cy="10972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232028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562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1155680" cy="10972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1325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750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115152"/>
            <a:ext cx="1033272" cy="37124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95112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Q3'26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4929529"/>
            <a:ext cx="1033272" cy="556869"/>
          </a:xfrm>
          <a:prstGeom prst="rect">
            <a:avLst/>
          </a:prstGeom>
          <a:solidFill>
            <a:srgbClr val="A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4609489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Q4'26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52344" y="4690871"/>
            <a:ext cx="1033272" cy="795527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2344" y="4370831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2344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Q1'27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77056" y="4558283"/>
            <a:ext cx="1033272" cy="928115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7056" y="4238243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056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Q2'27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1768" y="4505248"/>
            <a:ext cx="1033272" cy="98115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1768" y="4185208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Q3'27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213554"/>
            <a:ext cx="1033272" cy="1272844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893514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Q4'27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51192" y="3364991"/>
            <a:ext cx="1033272" cy="2121407"/>
          </a:xfrm>
          <a:prstGeom prst="rect">
            <a:avLst/>
          </a:prstGeom>
          <a:solidFill>
            <a:srgbClr val="FF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1192" y="3044951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Q1'28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2834639"/>
            <a:ext cx="1033272" cy="2651759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2514599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Q2'28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0616" y="2304287"/>
            <a:ext cx="1033272" cy="3182111"/>
          </a:xfrm>
          <a:prstGeom prst="rect">
            <a:avLst/>
          </a:prstGeom>
          <a:solidFill>
            <a:srgbClr val="A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0616" y="1984247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0616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Q3'28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25328" y="1508760"/>
            <a:ext cx="1033272" cy="3977639"/>
          </a:xfrm>
          <a:prstGeom prst="rect">
            <a:avLst/>
          </a:prstGeom>
          <a:solidFill>
            <a:srgbClr val="BB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25328" y="1188720"/>
            <a:ext cx="1033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25328" y="5559551"/>
            <a:ext cx="1033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Q4'28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1463040"/>
            <a:ext cx="20116" cy="4023359"/>
          </a:xfrm>
          <a:prstGeom prst="rect">
            <a:avLst/>
          </a:prstGeom>
          <a:solidFill>
            <a:srgbClr val="666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1097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2344" y="1463040"/>
            <a:ext cx="20116" cy="4023359"/>
          </a:xfrm>
          <a:prstGeom prst="rect">
            <a:avLst/>
          </a:prstGeom>
          <a:solidFill>
            <a:srgbClr val="666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52344" y="1097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2027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51192" y="1463040"/>
            <a:ext cx="20116" cy="4023359"/>
          </a:xfrm>
          <a:prstGeom prst="rect">
            <a:avLst/>
          </a:prstGeom>
          <a:solidFill>
            <a:srgbClr val="666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51192" y="1097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2028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943600"/>
            <a:ext cx="260604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980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GMV H2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175 млн 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0128" y="5943600"/>
            <a:ext cx="260604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980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GMV 2027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750 млн 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17336" y="5943600"/>
            <a:ext cx="260604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08776" y="5980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GMV 2028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08776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2 250 млн 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24544" y="5943600"/>
            <a:ext cx="2606040" cy="6217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15984" y="5980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Рост ×12,9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15984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за 2 года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21 человек уже в команде + ключевые найм на инвестиции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ДЕЙСТВУЮЩАЯ КОМАНДА (21 чел.)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01952"/>
            <a:ext cx="5577840" cy="7498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64008" cy="7498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👤  Директор / Product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04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10+ лет на рынке электротоваров. Стратегия, B2B, управление сетью.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06624"/>
            <a:ext cx="5577840" cy="7498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06624"/>
            <a:ext cx="64008" cy="7498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7614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🛒  Отдел продаж (7 чел.)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Знание ассортимента, клиентская база. Основа для категорийных менеджеров МП.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11296"/>
            <a:ext cx="5577840" cy="7498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11296"/>
            <a:ext cx="64008" cy="7498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5661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📦  Отдел закупок (3 чел.)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913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Работа с 100+ поставщиками. Ценообразование, логистика, контракты.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15968"/>
            <a:ext cx="5577840" cy="7498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315968"/>
            <a:ext cx="64008" cy="7498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708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💻  IT внутренний (4 чел.)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7183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Поддержка volt-market.com 6 лет. Готовы к переходу на маркетплейс-платформу.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20640"/>
            <a:ext cx="5577840" cy="7498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120640"/>
            <a:ext cx="64008" cy="7498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1755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🌐  IT внешний (7 чел.)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5229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Внешняя команда разработки. Функционал, интеграции, API.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925312"/>
            <a:ext cx="5577840" cy="7498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925312"/>
            <a:ext cx="64008" cy="7498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98017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🚚  Логистика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327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СДЭК · Деловые Линии · ПЭК · индивидуальные перевозчики. FBS/DBS с первого дня.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389888"/>
            <a:ext cx="45720" cy="51023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417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КЛЮЧЕВЫЕ НАЙМ НА ИНВЕСТИЦИИ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901952"/>
            <a:ext cx="1097280" cy="14447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4505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H2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19476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CTO — архитектура маркетплейс-платформы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23134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AI/ML-разработчик — смета, OCR, подбор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26791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2× Менеджер по привлечению продавцов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0449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Performance / SEO маркетолог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410712"/>
            <a:ext cx="1097280" cy="14447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959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4564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Категорийный менеджер ×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8221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Customer Success Manager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41879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Аналитик данных / 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4553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Контент-команда (фото + копирайтер)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919472"/>
            <a:ext cx="1097280" cy="14447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4681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2028+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9651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B2B-менеджер (СМО и проектировщики)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53309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PR / Партнёрский маркетинг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5696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Менеджер по регионам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60624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Продуктовый дизайнер UX/UI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Инвестиционное предложение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Сумма рассчитана из финансовой модели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9875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РАУНД SEED: 40 000 000 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33472"/>
            <a:ext cx="2606040" cy="2084831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260604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75945"/>
                </a:solidFill>
                <a:latin typeface="Calibri"/>
              </a:rPr>
              <a:t>37,5%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Разработка
платформы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5945"/>
                </a:solidFill>
                <a:latin typeface="Calibri"/>
              </a:rPr>
              <a:t>15 000 000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  <a:latin typeface="Calibri"/>
              </a:rPr>
              <a:t>Маркетплейс-движок, AI-смета, ЛК продавца,
B2B-инструменты, мобильное приложение v1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2633472"/>
            <a:ext cx="2606040" cy="2084831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2633472"/>
            <a:ext cx="2606040" cy="64008"/>
          </a:xfrm>
          <a:prstGeom prst="rect">
            <a:avLst/>
          </a:prstGeom>
          <a:solidFill>
            <a:srgbClr val="C04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272491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4735"/>
                </a:solidFill>
                <a:latin typeface="Calibri"/>
              </a:rPr>
              <a:t>30,0%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2918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Маркетинг
и CAC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80390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4735"/>
                </a:solidFill>
                <a:latin typeface="Calibri"/>
              </a:rPr>
              <a:t>12 000 000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206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  <a:latin typeface="Calibri"/>
              </a:rPr>
              <a:t>SEO, контекст, контент-маркетинг,
реферальная программа, отраслевые события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1616" y="2633472"/>
            <a:ext cx="2606040" cy="2084831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71616" y="2633472"/>
            <a:ext cx="2606040" cy="6400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272491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F7F7E"/>
                </a:solidFill>
                <a:latin typeface="Calibri"/>
              </a:rPr>
              <a:t>22,5%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2918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Команда
(ФОТ 12 мес.)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380390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7F7E"/>
                </a:solidFill>
                <a:latin typeface="Calibri"/>
              </a:rPr>
              <a:t>9 000 000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4206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  <a:latin typeface="Calibri"/>
              </a:rPr>
              <a:t>CTO, AI-разработчик, менеджеры продавцов,
перформанс-маркетолог — ядро найма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24544" y="2633472"/>
            <a:ext cx="2606040" cy="2084831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24544" y="2633472"/>
            <a:ext cx="2606040" cy="64008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272491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55554"/>
                </a:solidFill>
                <a:latin typeface="Calibri"/>
              </a:rPr>
              <a:t>10,0%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32918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Оборотный
капитал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380390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4"/>
                </a:solidFill>
                <a:latin typeface="Calibri"/>
              </a:rPr>
              <a:t>4 000 000 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2062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  <a:latin typeface="Calibri"/>
              </a:rPr>
              <a:t>Операционный резерв, юридическое сопровождение,
ЭДО-интеграция, буфер EBITDA H2'26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19472"/>
            <a:ext cx="1143000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97433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75945"/>
                </a:solidFill>
                <a:latin typeface="Calibri"/>
              </a:rPr>
              <a:t>⏱  Покрытие дефицита EBITDA H2'26: 13,9 млн ₽  ·  Break-even: Q2 2027  ·  Возврат инвестиций: Q3–Q4 2027  ·  Оценка 2028: 700–1 200 млн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96128"/>
            <a:ext cx="3611880" cy="65836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6327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▶ Стратег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897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Продажа нишевому МП или дистрибьютору. 5–8× EBITDA 2028 = 600–950 млн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799" y="5596128"/>
            <a:ext cx="3611880" cy="65836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79391" y="56327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▶ Buyback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9391" y="5897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Выкуп доли основателями по согласованной оценке к концу 2028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38" y="5596128"/>
            <a:ext cx="3611880" cy="65836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8430" y="56327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▶ Раунд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0" y="5897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При GMV 1B+ — привлечение раунда A для федерального масштабирования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Почему VoltMarket? Почему сейчас?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5 причин инвестировать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11338560" cy="1005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658368" cy="10058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1790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10+ лет на рынке — плацдарм готов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29384"/>
            <a:ext cx="10442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volt-market.com работает 6 лет. 100+ поставщиков. 300K SKU. 21 человек команды. Отлаженная логистика (СДЭК, ДЛ, ПЭК). Клиентская база Оренбурга и Поволжья. Риски старта минимальны — бизнес уже работает.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42032"/>
            <a:ext cx="11338560" cy="1005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542032"/>
            <a:ext cx="658368" cy="10058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7063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151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Рынок 1,8 трлн ₽ без лидера в нише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26664"/>
            <a:ext cx="10442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Нишевых профессиональных маркетплейсов электрики в России нет. B2B-сегмент не оцифрован. Онлайн-продажи электротоваров растут на 28%/год. Окно возможностей открыто: первый зайдёт — возьмёт рынок.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39312"/>
            <a:ext cx="11338560" cy="1005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39312"/>
            <a:ext cx="658368" cy="10058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6791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1246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AI-продукт, которого нет у конкурентов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23944"/>
            <a:ext cx="10442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AI-смета из любого файла за 5–10 минут вместо 4–8 часов вручную. Барьер для копирования: 12–18 месяцев разработки. Ключевой инструмент удержания B2B-клиентов и электриков.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36592"/>
            <a:ext cx="11338560" cy="1005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736592"/>
            <a:ext cx="658368" cy="10058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6519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097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Чёткая финансовая модель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21224"/>
            <a:ext cx="10442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GMV: 175M (H2'26) → 750M (2027) → 2 250M (2028). Break-even Q2 2027. EBITDA: +11,5M (2027), +117,9M (2028). Рост GMV ×12,9 за 2 года при консервативных допущениях.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833872"/>
            <a:ext cx="11338560" cy="100584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833872"/>
            <a:ext cx="658368" cy="10058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6247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9070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Масштабируемая модель → федеральный охват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318504"/>
            <a:ext cx="10442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Оренбург → Поволжье → Урал → федеральный. Модель работает в любом городе. При GMV 1B+ — раунд A для масштабирования. ROI для инвестора Seed-раунда: ×5–10 к 2028 году.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02752" y="0"/>
            <a:ext cx="3886200" cy="6858000"/>
          </a:xfrm>
          <a:prstGeom prst="rect">
            <a:avLst/>
          </a:prstGeom>
          <a:solidFill>
            <a:srgbClr val="1E1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2752" y="0"/>
            <a:ext cx="45720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7315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75945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VoltMarket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606040"/>
            <a:ext cx="50292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76148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75945"/>
                </a:solidFill>
                <a:latin typeface="Calibri"/>
              </a:rPr>
              <a:t>Нишевый маркетплейс электротоваров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564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  <a:latin typeface="Calibri"/>
              </a:rPr>
              <a:t>«Вместе создаём светлое будущее»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16052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🌐  Сайт: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16052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volt-market.com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091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📞  Телефон: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70916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8 800 550 11 61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2578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📧  E-mail: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2578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info@volt-market.com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8064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📍  Оренбург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80644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Сеть магазинов, 10+ лет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3891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75945"/>
                </a:solidFill>
                <a:latin typeface="Calibri"/>
              </a:rPr>
              <a:t>ПРЕДЛОЖЕНИЕ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1352" y="1024128"/>
            <a:ext cx="3429000" cy="6217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111556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Запрос (Seed):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40 000 000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1700784"/>
            <a:ext cx="342900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179222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Стадия: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17739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Seed Round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31352" y="2377440"/>
            <a:ext cx="342900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22792" y="24688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Break-even: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Q2 2027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31352" y="3054096"/>
            <a:ext cx="342900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314553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GMV 2028: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3127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2 250 млн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31352" y="3730752"/>
            <a:ext cx="342900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38221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Выручка 2028: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2992" y="38039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287 млн 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31352" y="4407408"/>
            <a:ext cx="342900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2792" y="449884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EBITDA 2028: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2992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118 млн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31352" y="5084064"/>
            <a:ext cx="3429000" cy="621792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517550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Оценка 2028: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2992" y="51572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700–1 200 млн 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6446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КОНФИДЕНЦИАЛЬНО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